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Lst>
  <p:notesMasterIdLst>
    <p:notesMasterId r:id="rId17"/>
  </p:notesMasterIdLst>
  <p:sldIdLst>
    <p:sldId id="256" r:id="rId2"/>
    <p:sldId id="257" r:id="rId3"/>
    <p:sldId id="284" r:id="rId4"/>
    <p:sldId id="283" r:id="rId5"/>
    <p:sldId id="282" r:id="rId6"/>
    <p:sldId id="279" r:id="rId7"/>
    <p:sldId id="281" r:id="rId8"/>
    <p:sldId id="259" r:id="rId9"/>
    <p:sldId id="260" r:id="rId10"/>
    <p:sldId id="261" r:id="rId11"/>
    <p:sldId id="262" r:id="rId12"/>
    <p:sldId id="278" r:id="rId13"/>
    <p:sldId id="280" r:id="rId14"/>
    <p:sldId id="285" r:id="rId15"/>
    <p:sldId id="277" r:id="rId16"/>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97"/>
    <p:restoredTop sz="74464"/>
  </p:normalViewPr>
  <p:slideViewPr>
    <p:cSldViewPr snapToGrid="0" snapToObjects="1">
      <p:cViewPr>
        <p:scale>
          <a:sx n="188" d="100"/>
          <a:sy n="188" d="100"/>
        </p:scale>
        <p:origin x="4128" y="44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3220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Welcome</a:t>
            </a:r>
          </a:p>
          <a:p>
            <a:pPr marL="171450" indent="-171450">
              <a:buFontTx/>
              <a:buChar char="-"/>
            </a:pPr>
            <a:r>
              <a:rPr lang="en-US" dirty="0"/>
              <a:t>Introductory course for game dev </a:t>
            </a:r>
          </a:p>
          <a:p>
            <a:pPr marL="171450" indent="-171450">
              <a:buFontTx/>
              <a:buChar char="-"/>
            </a:pPr>
            <a:r>
              <a:rPr lang="en-US" dirty="0"/>
              <a:t>The goal of this course is to learn the essential skills design and develop video games </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we start diving into this. Why would someone care about learning game development.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44D19-4822-BF09-0AA9-AE1EF6F9F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204202-B3DF-0476-264E-6722C29C9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160A2-77AE-0FBC-FE24-2BF4D395A5DC}"/>
              </a:ext>
            </a:extLst>
          </p:cNvPr>
          <p:cNvSpPr>
            <a:spLocks noGrp="1"/>
          </p:cNvSpPr>
          <p:nvPr>
            <p:ph type="body" idx="1"/>
          </p:nvPr>
        </p:nvSpPr>
        <p:spPr/>
        <p:txBody>
          <a:bodyPr/>
          <a:lstStyle/>
          <a:p>
            <a:pPr marL="171450" indent="-171450">
              <a:buFontTx/>
              <a:buChar char="-"/>
            </a:pPr>
            <a:r>
              <a:rPr lang="en-US" dirty="0"/>
              <a:t>Today, Saudi </a:t>
            </a:r>
            <a:r>
              <a:rPr lang="en-US" dirty="0" err="1"/>
              <a:t>arabia</a:t>
            </a:r>
            <a:r>
              <a:rPr lang="en-US" dirty="0"/>
              <a:t> is investing a lot into game development </a:t>
            </a:r>
          </a:p>
          <a:p>
            <a:pPr marL="171450" indent="-171450">
              <a:buFontTx/>
              <a:buChar char="-"/>
            </a:pPr>
            <a:r>
              <a:rPr lang="en-US" dirty="0"/>
              <a:t>A report produced by </a:t>
            </a:r>
            <a:r>
              <a:rPr lang="en-US" dirty="0" err="1"/>
              <a:t>pif</a:t>
            </a:r>
            <a:r>
              <a:rPr lang="en-US" dirty="0"/>
              <a:t> says that the goal is to establish 250 games companies </a:t>
            </a:r>
          </a:p>
          <a:p>
            <a:pPr marL="171450" indent="-171450">
              <a:buFontTx/>
              <a:buChar char="-"/>
            </a:pPr>
            <a:r>
              <a:rPr lang="en-US" dirty="0"/>
              <a:t>that will create 39000 jobs </a:t>
            </a:r>
          </a:p>
          <a:p>
            <a:pPr marL="171450" indent="-171450">
              <a:buFontTx/>
              <a:buChar char="-"/>
            </a:pPr>
            <a:r>
              <a:rPr lang="en-US" dirty="0"/>
              <a:t>and will raise the GDP by 50B by 2023 </a:t>
            </a:r>
          </a:p>
          <a:p>
            <a:pPr marL="171450" indent="-171450">
              <a:buFontTx/>
              <a:buChar char="-"/>
            </a:pPr>
            <a:r>
              <a:rPr lang="en-US" dirty="0"/>
              <a:t>Recent acquisitions and investments in Saudi game studios also makes things more interesting</a:t>
            </a:r>
          </a:p>
          <a:p>
            <a:pPr marL="171450" indent="-171450">
              <a:buFontTx/>
              <a:buChar char="-"/>
            </a:pPr>
            <a:r>
              <a:rPr lang="en-US" dirty="0"/>
              <a:t>In august 2025, the well known game </a:t>
            </a:r>
            <a:r>
              <a:rPr lang="en-US" dirty="0" err="1"/>
              <a:t>kemmelna</a:t>
            </a:r>
            <a:r>
              <a:rPr lang="en-US" dirty="0"/>
              <a:t> was </a:t>
            </a:r>
            <a:r>
              <a:rPr lang="en-US" dirty="0" err="1"/>
              <a:t>aquired</a:t>
            </a:r>
            <a:r>
              <a:rPr lang="en-US" dirty="0"/>
              <a:t> by Impact46 for 200m SAR</a:t>
            </a:r>
          </a:p>
          <a:p>
            <a:pPr marL="171450" indent="-171450">
              <a:buFontTx/>
              <a:buChar char="-"/>
            </a:pPr>
            <a:r>
              <a:rPr lang="en-US" dirty="0"/>
              <a:t>Also NEOM </a:t>
            </a:r>
            <a:r>
              <a:rPr lang="en-US" dirty="0" err="1"/>
              <a:t>throught</a:t>
            </a:r>
            <a:r>
              <a:rPr lang="en-US" dirty="0"/>
              <a:t> </a:t>
            </a:r>
            <a:r>
              <a:rPr lang="en-US" dirty="0" err="1"/>
              <a:t>theier</a:t>
            </a:r>
            <a:r>
              <a:rPr lang="en-US" dirty="0"/>
              <a:t> gaming acceleration </a:t>
            </a:r>
            <a:r>
              <a:rPr lang="en-US" dirty="0" err="1"/>
              <a:t>LevelUp</a:t>
            </a:r>
            <a:r>
              <a:rPr lang="en-US" dirty="0"/>
              <a:t> have announced funding this year for 5 startup studios </a:t>
            </a:r>
          </a:p>
          <a:p>
            <a:pPr marL="171450" indent="-171450">
              <a:buFontTx/>
              <a:buChar char="-"/>
            </a:pPr>
            <a:r>
              <a:rPr lang="en-US" dirty="0"/>
              <a:t>And this is just the beginning</a:t>
            </a:r>
          </a:p>
        </p:txBody>
      </p:sp>
      <p:sp>
        <p:nvSpPr>
          <p:cNvPr id="4" name="Slide Number Placeholder 3">
            <a:extLst>
              <a:ext uri="{FF2B5EF4-FFF2-40B4-BE49-F238E27FC236}">
                <a16:creationId xmlns:a16="http://schemas.microsoft.com/office/drawing/2014/main" id="{79E9FFDC-5D0B-D0BF-5805-4E5CE96DC0B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67503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F8787-D454-420A-1929-06F22ABE9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5AA18-BF40-C42D-EAF8-1CB801E65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19912-E39B-917F-A866-4BB6B30AE749}"/>
              </a:ext>
            </a:extLst>
          </p:cNvPr>
          <p:cNvSpPr>
            <a:spLocks noGrp="1"/>
          </p:cNvSpPr>
          <p:nvPr>
            <p:ph type="body" idx="1"/>
          </p:nvPr>
        </p:nvSpPr>
        <p:spPr/>
        <p:txBody>
          <a:bodyPr/>
          <a:lstStyle/>
          <a:p>
            <a:r>
              <a:rPr lang="en-US" dirty="0"/>
              <a:t>- This is not the only reason. </a:t>
            </a:r>
          </a:p>
          <a:p>
            <a:pPr marL="171450" indent="-171450">
              <a:buFontTx/>
              <a:buChar char="-"/>
            </a:pPr>
            <a:r>
              <a:rPr lang="en-US" dirty="0"/>
              <a:t>It is also a career path that is so exciting</a:t>
            </a:r>
          </a:p>
          <a:p>
            <a:pPr marL="171450" indent="-171450">
              <a:buFontTx/>
              <a:buChar char="-"/>
            </a:pPr>
            <a:r>
              <a:rPr lang="en-US" dirty="0"/>
              <a:t>Your job will be to make people having FUN</a:t>
            </a:r>
          </a:p>
          <a:p>
            <a:pPr marL="171450" indent="-171450">
              <a:buFontTx/>
              <a:buChar char="-"/>
            </a:pPr>
            <a:r>
              <a:rPr lang="en-US" dirty="0"/>
              <a:t>Your games can shape people minds </a:t>
            </a:r>
          </a:p>
          <a:p>
            <a:pPr marL="171450" indent="-171450">
              <a:buFontTx/>
              <a:buChar char="-"/>
            </a:pPr>
            <a:r>
              <a:rPr lang="en-US" dirty="0"/>
              <a:t>The need to expose our culture to the world is so important </a:t>
            </a:r>
          </a:p>
          <a:p>
            <a:pPr marL="171450" indent="-171450">
              <a:buFontTx/>
              <a:buChar char="-"/>
            </a:pPr>
            <a:r>
              <a:rPr lang="en-US" dirty="0"/>
              <a:t>And what can do that better than games</a:t>
            </a:r>
          </a:p>
        </p:txBody>
      </p:sp>
      <p:sp>
        <p:nvSpPr>
          <p:cNvPr id="4" name="Slide Number Placeholder 3">
            <a:extLst>
              <a:ext uri="{FF2B5EF4-FFF2-40B4-BE49-F238E27FC236}">
                <a16:creationId xmlns:a16="http://schemas.microsoft.com/office/drawing/2014/main" id="{8948561A-61C4-840E-5493-C758F2A710B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47079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EB76B-2C90-898D-B711-0F91CAFA4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8BB79-7F43-2DE8-43FD-7BD6E7F64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5B85FB-1BFE-E6E6-FC9E-69D1C7D59E44}"/>
              </a:ext>
            </a:extLst>
          </p:cNvPr>
          <p:cNvSpPr>
            <a:spLocks noGrp="1"/>
          </p:cNvSpPr>
          <p:nvPr>
            <p:ph type="body" idx="1"/>
          </p:nvPr>
        </p:nvSpPr>
        <p:spPr/>
        <p:txBody>
          <a:bodyPr/>
          <a:lstStyle/>
          <a:p>
            <a:r>
              <a:rPr lang="en-US" dirty="0"/>
              <a:t>In today’s lecture, we will go over the following topics.</a:t>
            </a:r>
          </a:p>
          <a:p>
            <a:pPr marL="342900" indent="-342900" algn="l">
              <a:lnSpc>
                <a:spcPts val="1890"/>
              </a:lnSpc>
              <a:buSzPct val="100000"/>
              <a:buChar char="•"/>
            </a:pPr>
            <a:r>
              <a:rPr lang="en-US" sz="1200" kern="0" spc="-13" dirty="0">
                <a:solidFill>
                  <a:srgbClr val="FFFFFF">
                    <a:alpha val="99000"/>
                  </a:srgbClr>
                </a:solidFill>
                <a:latin typeface="Inter" pitchFamily="34" charset="0"/>
                <a:ea typeface="Inter" pitchFamily="34" charset="-122"/>
                <a:cs typeface="Inter" pitchFamily="34" charset="-120"/>
              </a:rPr>
              <a:t>Knowing each other</a:t>
            </a:r>
          </a:p>
          <a:p>
            <a:pPr marL="342900" indent="-342900" algn="l">
              <a:lnSpc>
                <a:spcPts val="1890"/>
              </a:lnSpc>
              <a:buSzPct val="100000"/>
              <a:buChar char="•"/>
            </a:pPr>
            <a:r>
              <a:rPr lang="en-US" sz="1200" kern="0" spc="-13" dirty="0">
                <a:solidFill>
                  <a:srgbClr val="FFFFFF">
                    <a:alpha val="99000"/>
                  </a:srgbClr>
                </a:solidFill>
                <a:latin typeface="Inter" pitchFamily="34" charset="0"/>
                <a:ea typeface="Inter" pitchFamily="34" charset="-122"/>
                <a:cs typeface="Inter" pitchFamily="34" charset="-120"/>
              </a:rPr>
              <a:t>Course structure </a:t>
            </a:r>
          </a:p>
          <a:p>
            <a:pPr marL="342900" indent="-342900" algn="l">
              <a:lnSpc>
                <a:spcPts val="1890"/>
              </a:lnSpc>
              <a:buSzPct val="100000"/>
              <a:buChar char="•"/>
            </a:pPr>
            <a:r>
              <a:rPr lang="en-US" sz="1200" kern="0" spc="-13" dirty="0">
                <a:solidFill>
                  <a:srgbClr val="FFFFFF">
                    <a:alpha val="99000"/>
                  </a:srgbClr>
                </a:solidFill>
                <a:latin typeface="Inter" pitchFamily="34" charset="0"/>
                <a:ea typeface="Inter" pitchFamily="34" charset="-122"/>
                <a:cs typeface="Inter" pitchFamily="34" charset="-120"/>
              </a:rPr>
              <a:t>Teaching method</a:t>
            </a:r>
          </a:p>
          <a:p>
            <a:pPr marL="342900" indent="-342900" algn="l">
              <a:lnSpc>
                <a:spcPts val="1890"/>
              </a:lnSpc>
              <a:buSzPct val="100000"/>
              <a:buChar char="•"/>
            </a:pPr>
            <a:r>
              <a:rPr lang="en-US" sz="1200" kern="0" spc="-13" dirty="0">
                <a:solidFill>
                  <a:srgbClr val="FFFFFF">
                    <a:alpha val="99000"/>
                  </a:srgbClr>
                </a:solidFill>
                <a:latin typeface="Inter" pitchFamily="34" charset="0"/>
                <a:ea typeface="Inter" pitchFamily="34" charset="-122"/>
                <a:cs typeface="Inter" pitchFamily="34" charset="-120"/>
              </a:rPr>
              <a:t>How to succeed in this course</a:t>
            </a:r>
          </a:p>
          <a:p>
            <a:endParaRPr lang="en-US" dirty="0"/>
          </a:p>
        </p:txBody>
      </p:sp>
      <p:sp>
        <p:nvSpPr>
          <p:cNvPr id="4" name="Slide Number Placeholder 3">
            <a:extLst>
              <a:ext uri="{FF2B5EF4-FFF2-40B4-BE49-F238E27FC236}">
                <a16:creationId xmlns:a16="http://schemas.microsoft.com/office/drawing/2014/main" id="{E884C5BA-2DAE-CC11-C411-9FB4BBE5C56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56061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Let’s start by knowing each other </a:t>
            </a:r>
          </a:p>
          <a:p>
            <a:pPr marL="171450" indent="-171450">
              <a:buFontTx/>
              <a:buChar char="-"/>
            </a:pPr>
            <a:r>
              <a:rPr lang="en-US" dirty="0"/>
              <a:t>Have five </a:t>
            </a:r>
            <a:r>
              <a:rPr lang="en-US" dirty="0" err="1"/>
              <a:t>mintes</a:t>
            </a:r>
            <a:r>
              <a:rPr lang="en-US" dirty="0"/>
              <a:t> sketch things that you want to share</a:t>
            </a:r>
          </a:p>
          <a:p>
            <a:pPr marL="171450" indent="-171450">
              <a:buFontTx/>
              <a:buChar char="-"/>
            </a:pPr>
            <a:r>
              <a:rPr lang="en-US" dirty="0"/>
              <a:t>Write your name in the middle </a:t>
            </a:r>
          </a:p>
          <a:p>
            <a:pPr marL="171450" indent="-171450">
              <a:buFontTx/>
              <a:buChar char="-"/>
            </a:pPr>
            <a:r>
              <a:rPr lang="en-US" dirty="0"/>
              <a:t>send it to </a:t>
            </a:r>
            <a:r>
              <a:rPr lang="en-US" dirty="0" err="1"/>
              <a:t>gpt</a:t>
            </a:r>
            <a:r>
              <a:rPr lang="en-US" dirty="0"/>
              <a:t> and ask it to produce an image that look like a video game character</a:t>
            </a:r>
          </a:p>
          <a:p>
            <a:pPr marL="171450" indent="-171450">
              <a:buFontTx/>
              <a:buChar char="-"/>
            </a:pPr>
            <a:r>
              <a:rPr lang="en-US" dirty="0"/>
              <a:t>Send it to MS teams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7861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E5FA9-1D58-2925-FBE4-455C363C1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3C8ED-261A-1224-38D1-BD4F13E11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735B5-D149-2846-CB7F-48071BD9F1C7}"/>
              </a:ext>
            </a:extLst>
          </p:cNvPr>
          <p:cNvSpPr>
            <a:spLocks noGrp="1"/>
          </p:cNvSpPr>
          <p:nvPr>
            <p:ph type="body" idx="1"/>
          </p:nvPr>
        </p:nvSpPr>
        <p:spPr/>
        <p:txBody>
          <a:bodyPr/>
          <a:lstStyle/>
          <a:p>
            <a:r>
              <a:rPr lang="en-US" dirty="0"/>
              <a:t>What is a game?
(Quick question to the class) If you had to define ‘game’ in one sentence, what would you say?
There are many definitions, and each one emphasizes something different—rules, conflict, outcomes, or decision-making.</a:t>
            </a:r>
          </a:p>
        </p:txBody>
      </p:sp>
      <p:sp>
        <p:nvSpPr>
          <p:cNvPr id="4" name="Slide Number Placeholder 3">
            <a:extLst>
              <a:ext uri="{FF2B5EF4-FFF2-40B4-BE49-F238E27FC236}">
                <a16:creationId xmlns:a16="http://schemas.microsoft.com/office/drawing/2014/main" id="{C53897CE-2DB1-B965-ADD1-1759545598F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702467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strong definition comes from Tracy Fullerton (Game Design Workshop).
She describes a game as a closed, formal system that engages players in structured conflict and resolves uncertainty with an unequal outcome.
In other words: games create a world with boundaries (a system), they create tension (conflict), and they produce a result (someone wins, loses, or performs better).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classic definition is from Katie Salen and Eric Zimmerman (Rules of Play).
They define a game as a system where players engage in an artificial conflict, defined by rules, that results in a quantifiable outcome.
Notice the emphasis here: ‘system’ + ‘rules’ + an outcome you can measure—score, time, ranking, win/loss.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famous—and very practical—definition comes from Sid Meier (Civilization):
‘A game is a series of meaningful choices.’
This is useful for us because it connects directly to design and programming.
If the player’s choices don’t matter, the game becomes boring.
If choices matter, then the game becomes strategic, emotional, and engaging.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compare these definitions, most games share a few core elements:
- A closed system (the game world has boundaries)
- Rules (what is allowed / not allowed)
- Players (one or more participants interacting with the system)
- Structured conflict (challenge, competition, scarcity, risk)
- Unequal outcomes (somebody ‘does better’ or wins)
Even when a game is cooperative, there is still conflict—often against the environment or the system.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course </a:t>
            </a:r>
          </a:p>
          <a:p>
            <a:endParaRPr lang="en-US" dirty="0"/>
          </a:p>
          <a:p>
            <a:r>
              <a:rPr lang="en-US" dirty="0"/>
              <a:t>Under this </a:t>
            </a:r>
            <a:r>
              <a:rPr lang="en-US" dirty="0" err="1"/>
              <a:t>url</a:t>
            </a:r>
            <a:r>
              <a:rPr lang="en-US" dirty="0"/>
              <a:t> you will find a </a:t>
            </a:r>
            <a:r>
              <a:rPr lang="en-US" dirty="0" err="1"/>
              <a:t>github</a:t>
            </a:r>
            <a:r>
              <a:rPr lang="en-US" dirty="0"/>
              <a:t> repository</a:t>
            </a:r>
          </a:p>
          <a:p>
            <a:endParaRPr lang="en-US" dirty="0"/>
          </a:p>
          <a:p>
            <a:r>
              <a:rPr lang="en-US" dirty="0"/>
              <a:t>This repository contains all of what you need to succeed in the course</a:t>
            </a:r>
          </a:p>
          <a:p>
            <a:endParaRPr lang="en-US" dirty="0"/>
          </a:p>
          <a:p>
            <a:r>
              <a:rPr lang="en-US" dirty="0"/>
              <a:t>It will be a dynamic repo and will update it as we go </a:t>
            </a:r>
          </a:p>
          <a:p>
            <a:endParaRPr lang="en-US" dirty="0"/>
          </a:p>
          <a:p>
            <a:r>
              <a:rPr lang="en-US" dirty="0"/>
              <a:t>Lets discuss the syllabus for some time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A85C5-2B74-AF20-5577-F95E8F840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7DFD0-CCB5-3F78-0AD2-C57AC47A03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12B87-7366-AFC2-8B9A-5021E1AA47C6}"/>
              </a:ext>
            </a:extLst>
          </p:cNvPr>
          <p:cNvSpPr>
            <a:spLocks noGrp="1"/>
          </p:cNvSpPr>
          <p:nvPr>
            <p:ph type="body" idx="1"/>
          </p:nvPr>
        </p:nvSpPr>
        <p:spPr/>
        <p:txBody>
          <a:bodyPr/>
          <a:lstStyle/>
          <a:p>
            <a:r>
              <a:rPr lang="en-US" dirty="0"/>
              <a:t>Finally regarding the material</a:t>
            </a:r>
          </a:p>
          <a:p>
            <a:endParaRPr lang="en-US" dirty="0"/>
          </a:p>
          <a:p>
            <a:r>
              <a:rPr lang="en-US" dirty="0"/>
              <a:t>After discussing with many experts in game development </a:t>
            </a:r>
          </a:p>
          <a:p>
            <a:endParaRPr lang="en-US" dirty="0"/>
          </a:p>
          <a:p>
            <a:r>
              <a:rPr lang="en-US" dirty="0"/>
              <a:t>They highly encourage the use of unity learn as a backbone of the course</a:t>
            </a:r>
          </a:p>
          <a:p>
            <a:endParaRPr lang="en-US" dirty="0"/>
          </a:p>
          <a:p>
            <a:r>
              <a:rPr lang="en-US" dirty="0"/>
              <a:t>It is well structured and is </a:t>
            </a:r>
            <a:r>
              <a:rPr lang="en-US" dirty="0" err="1"/>
              <a:t>intereactive</a:t>
            </a:r>
            <a:r>
              <a:rPr lang="en-US" dirty="0"/>
              <a:t> </a:t>
            </a:r>
          </a:p>
        </p:txBody>
      </p:sp>
      <p:sp>
        <p:nvSpPr>
          <p:cNvPr id="4" name="Slide Number Placeholder 3">
            <a:extLst>
              <a:ext uri="{FF2B5EF4-FFF2-40B4-BE49-F238E27FC236}">
                <a16:creationId xmlns:a16="http://schemas.microsoft.com/office/drawing/2014/main" id="{7B88BE57-8C80-BC3E-8863-0511BCABC29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9783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5EE7A-E47A-CAB0-F497-2B68C7F73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A8B78-CD47-474A-B576-096A315DE0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9C2FC2-07EF-4D1F-8E16-D58F0068D7B1}"/>
              </a:ext>
            </a:extLst>
          </p:cNvPr>
          <p:cNvSpPr>
            <a:spLocks noGrp="1"/>
          </p:cNvSpPr>
          <p:nvPr>
            <p:ph type="body" idx="1"/>
          </p:nvPr>
        </p:nvSpPr>
        <p:spPr/>
        <p:txBody>
          <a:bodyPr/>
          <a:lstStyle/>
          <a:p>
            <a:r>
              <a:rPr lang="en-US" dirty="0"/>
              <a:t>Some guidelines that will help us run a fun </a:t>
            </a:r>
            <a:r>
              <a:rPr lang="en-US"/>
              <a:t>class hopefully. </a:t>
            </a:r>
            <a:endParaRPr lang="en-US" dirty="0"/>
          </a:p>
        </p:txBody>
      </p:sp>
      <p:sp>
        <p:nvSpPr>
          <p:cNvPr id="4" name="Slide Number Placeholder 3">
            <a:extLst>
              <a:ext uri="{FF2B5EF4-FFF2-40B4-BE49-F238E27FC236}">
                <a16:creationId xmlns:a16="http://schemas.microsoft.com/office/drawing/2014/main" id="{C11BA58C-6B63-D87E-57DE-C0B8A25B73D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8510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question (to check understanding):
If you had to pick ONE milestone that changed game development the most—what would it be, and why?
Is it:
- arcades (public access)
- consoles (home gaming)
- online multiplayer (social + scale)
- mobile (distribution + new audience)
Post your answer in the discussion channel.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61722" y="48006"/>
            <a:ext cx="9011412" cy="3840479"/>
          </a:xfrm>
        </p:spPr>
        <p:txBody>
          <a:bodyPr>
            <a:normAutofit/>
          </a:bodyPr>
          <a:lstStyle>
            <a:lvl1pPr>
              <a:defRPr sz="825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816102" y="4020659"/>
            <a:ext cx="7527798" cy="425196"/>
          </a:xfrm>
        </p:spPr>
        <p:txBody>
          <a:bodyPr anchor="b" anchorCtr="0">
            <a:normAutofit/>
          </a:bodyPr>
          <a:lstStyle>
            <a:lvl1pPr marL="0" indent="0" algn="r">
              <a:lnSpc>
                <a:spcPct val="100000"/>
              </a:lnSpc>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8/19/26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8540854" y="4312445"/>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54680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816102" y="817684"/>
            <a:ext cx="8130470" cy="59288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816102" y="1410567"/>
            <a:ext cx="8130470" cy="3418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smtClean="0"/>
              <a:t>8/19/26</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904401"/>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03364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5886" y="3507133"/>
            <a:ext cx="8126729" cy="989633"/>
          </a:xfrm>
        </p:spPr>
        <p:txBody>
          <a:bodyPr vert="horz" lIns="91440" tIns="45720" rIns="91440" bIns="45720" rtlCol="0" anchor="b">
            <a:noAutofit/>
          </a:bodyPr>
          <a:lstStyle>
            <a:lvl1pPr>
              <a:defRPr lang="en-US" sz="405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5886" y="4548850"/>
            <a:ext cx="8126729" cy="280325"/>
          </a:xfrm>
        </p:spPr>
        <p:txBody>
          <a:bodyPr vert="horz" lIns="91440" tIns="45720" rIns="91440" bIns="45720" rtlCol="0" anchor="b">
            <a:noAutofit/>
          </a:bodyPr>
          <a:lstStyle>
            <a:lvl1pPr marL="0" indent="0">
              <a:spcBef>
                <a:spcPts val="0"/>
              </a:spcBef>
              <a:buNone/>
              <a:defRPr lang="en-US" sz="15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1"/>
            <a:ext cx="9143999" cy="3350871"/>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4286250"/>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8/19/26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68004750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84792" y="1058519"/>
            <a:ext cx="2802008" cy="2134175"/>
          </a:xfrm>
        </p:spPr>
        <p:txBody>
          <a:bodyPr vert="horz" lIns="91440" tIns="45720" rIns="91440" bIns="45720" rtlCol="0" anchor="b">
            <a:noAutofit/>
          </a:bodyPr>
          <a:lstStyle>
            <a:lvl1pPr>
              <a:defRPr lang="en-US" sz="27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84792" y="3302279"/>
            <a:ext cx="2797436" cy="842342"/>
          </a:xfrm>
        </p:spPr>
        <p:txBody>
          <a:bodyPr vert="horz" lIns="91440" tIns="45720" rIns="91440" bIns="45720" rtlCol="0">
            <a:normAutofit/>
          </a:bodyPr>
          <a:lstStyle>
            <a:lvl1pPr marL="0" indent="0">
              <a:lnSpc>
                <a:spcPct val="100000"/>
              </a:lnSpc>
              <a:buNone/>
              <a:defRPr lang="en-US" sz="12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5713339" cy="51435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5884791" y="4829175"/>
            <a:ext cx="1285726" cy="314325"/>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7238172" y="4829175"/>
            <a:ext cx="648528" cy="314325"/>
          </a:xfrm>
        </p:spPr>
        <p:txBody>
          <a:bodyPr/>
          <a:lstStyle/>
          <a:p>
            <a:fld id="{2ABAD28B-DD56-4B56-883A-96608C765E28}" type="datetimeFigureOut">
              <a:rPr lang="en-US" smtClean="0"/>
              <a:pPr/>
              <a:t>8/19/26</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7892823" y="4829175"/>
            <a:ext cx="451077" cy="3143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54132940"/>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816102" y="817683"/>
            <a:ext cx="7527798" cy="3869443"/>
          </a:xfrm>
        </p:spPr>
        <p:txBody>
          <a:bodyPr>
            <a:normAutofit/>
          </a:bodyPr>
          <a:lstStyle>
            <a:lvl1pPr>
              <a:defRPr sz="6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8/19/26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904401"/>
            <a:ext cx="603146"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2620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818205" y="816527"/>
            <a:ext cx="6359304" cy="1046665"/>
          </a:xfrm>
        </p:spPr>
        <p:txBody>
          <a:bodyPr anchor="t">
            <a:normAutofit/>
          </a:bodyPr>
          <a:lstStyle>
            <a:lvl1pPr>
              <a:defRPr sz="27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822523" y="1863191"/>
            <a:ext cx="6350669" cy="2654636"/>
          </a:xfrm>
        </p:spPr>
        <p:txBody>
          <a:bodyPr>
            <a:normAutofit/>
          </a:bodyPr>
          <a:lstStyle>
            <a:lvl1pPr marL="342900" indent="-342900">
              <a:lnSpc>
                <a:spcPct val="100000"/>
              </a:lnSpc>
              <a:buFont typeface="+mj-lt"/>
              <a:buAutoNum type="arabicPeriod"/>
              <a:defRPr sz="1500"/>
            </a:lvl1pPr>
            <a:lvl2pPr marL="514350" indent="-342900">
              <a:lnSpc>
                <a:spcPct val="100000"/>
              </a:lnSpc>
              <a:buFont typeface="+mj-lt"/>
              <a:buAutoNum type="arabicPeriod"/>
              <a:defRPr sz="1500"/>
            </a:lvl2pPr>
            <a:lvl3pPr marL="600075" indent="-257175">
              <a:lnSpc>
                <a:spcPct val="100000"/>
              </a:lnSpc>
              <a:buFont typeface="+mj-lt"/>
              <a:buAutoNum type="arabicPeriod"/>
              <a:defRPr sz="1500"/>
            </a:lvl3pPr>
            <a:lvl4pPr marL="771525" indent="-257175">
              <a:lnSpc>
                <a:spcPct val="100000"/>
              </a:lnSpc>
              <a:buFont typeface="+mj-lt"/>
              <a:buAutoNum type="arabicPeriod"/>
              <a:defRPr sz="1500"/>
            </a:lvl4pPr>
            <a:lvl5pPr marL="942975" indent="-257175">
              <a:lnSpc>
                <a:spcPct val="100000"/>
              </a:lnSpc>
              <a:buFont typeface="+mj-lt"/>
              <a:buAutoNum type="arabicPeriod"/>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8/19/26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431307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816102" y="816102"/>
            <a:ext cx="4312044" cy="1165860"/>
          </a:xfrm>
        </p:spPr>
        <p:txBody>
          <a:bodyPr anchor="t" anchorCtr="0">
            <a:normAutofit/>
          </a:bodyPr>
          <a:lstStyle>
            <a:lvl1pPr>
              <a:defRPr sz="27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16102" y="1988820"/>
            <a:ext cx="4312044" cy="2770632"/>
          </a:xfrm>
        </p:spPr>
        <p:txBody>
          <a:bodyPr>
            <a:normAutofit/>
          </a:bodyPr>
          <a:lstStyle>
            <a:lvl1pPr marL="257175" indent="-257175">
              <a:lnSpc>
                <a:spcPct val="100000"/>
              </a:lnSpc>
              <a:buFont typeface="System Font Regular"/>
              <a:buChar char="-"/>
              <a:defRPr sz="1500"/>
            </a:lvl1pPr>
            <a:lvl2pPr>
              <a:lnSpc>
                <a:spcPct val="100000"/>
              </a:lnSpc>
              <a:defRPr sz="1500"/>
            </a:lvl2pPr>
            <a:lvl3pPr>
              <a:lnSpc>
                <a:spcPct val="100000"/>
              </a:lnSpc>
              <a:defRPr sz="1500"/>
            </a:lvl3pPr>
            <a:lvl4pPr>
              <a:lnSpc>
                <a:spcPct val="100000"/>
              </a:lnSpc>
              <a:defRPr sz="1500"/>
            </a:lvl4pPr>
            <a:lvl5pPr>
              <a:lnSpc>
                <a:spcPct val="100000"/>
              </a:lnSpc>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18205" y="4829175"/>
            <a:ext cx="2936553" cy="314325"/>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754758" y="4829175"/>
            <a:ext cx="844590" cy="314325"/>
          </a:xfrm>
        </p:spPr>
        <p:txBody>
          <a:bodyPr/>
          <a:lstStyle/>
          <a:p>
            <a:fld id="{8A60B404-9532-4DA8-8A40-EC339A5BE635}" type="datetime1">
              <a:rPr lang="en-US" smtClean="0"/>
              <a:t>8/19/26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4599348" y="4829175"/>
            <a:ext cx="528798" cy="314325"/>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5486400" y="0"/>
            <a:ext cx="3657600" cy="51435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45108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5758" y="836142"/>
            <a:ext cx="2942591" cy="3062685"/>
          </a:xfrm>
        </p:spPr>
        <p:txBody>
          <a:bodyPr anchor="t">
            <a:normAutofit/>
          </a:bodyPr>
          <a:lstStyle>
            <a:lvl1pPr>
              <a:defRPr sz="27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70959" y="836467"/>
            <a:ext cx="4357285" cy="3878408"/>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739987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2776" y="835991"/>
            <a:ext cx="2078495" cy="2756664"/>
          </a:xfrm>
        </p:spPr>
        <p:txBody>
          <a:bodyPr anchor="t">
            <a:normAutofit/>
          </a:bodyPr>
          <a:lstStyle>
            <a:lvl1pPr>
              <a:defRPr sz="27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100900" y="846859"/>
            <a:ext cx="5845673" cy="3868016"/>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44975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589341" y="833326"/>
            <a:ext cx="4754559" cy="85725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9144" y="0"/>
            <a:ext cx="3379939" cy="51435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3589340" y="1802165"/>
            <a:ext cx="4754561" cy="2912711"/>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853171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3589341" y="4829175"/>
            <a:ext cx="3581177" cy="314325"/>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7238172" y="4829175"/>
            <a:ext cx="648528" cy="314325"/>
          </a:xfrm>
        </p:spPr>
        <p:txBody>
          <a:bodyPr/>
          <a:lstStyle/>
          <a:p>
            <a:fld id="{2ABAD28B-DD56-4B56-883A-96608C765E28}" type="datetimeFigureOut">
              <a:rPr lang="en-US" smtClean="0"/>
              <a:pPr/>
              <a:t>8/19/26</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7892823" y="4829175"/>
            <a:ext cx="451077" cy="3143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0886640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2832744" y="834078"/>
            <a:ext cx="5491211" cy="699516"/>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1" y="0"/>
            <a:ext cx="2644829" cy="51435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2832056" y="1640443"/>
            <a:ext cx="5511845" cy="3074432"/>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853171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2832057" y="4829175"/>
            <a:ext cx="4338461" cy="314325"/>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7238172" y="4829175"/>
            <a:ext cx="648528" cy="314325"/>
          </a:xfrm>
        </p:spPr>
        <p:txBody>
          <a:bodyPr/>
          <a:lstStyle/>
          <a:p>
            <a:fld id="{2ABAD28B-DD56-4B56-883A-96608C765E28}" type="datetimeFigureOut">
              <a:rPr lang="en-US" smtClean="0"/>
              <a:pPr/>
              <a:t>8/19/26</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7892823" y="4829175"/>
            <a:ext cx="451077" cy="3143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28077107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0046" y="834078"/>
            <a:ext cx="5507673" cy="699516"/>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20045" y="1640443"/>
            <a:ext cx="5507674" cy="3074432"/>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820045" y="4829175"/>
            <a:ext cx="4334291" cy="314325"/>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5221991" y="4829175"/>
            <a:ext cx="648528" cy="314325"/>
          </a:xfrm>
        </p:spPr>
        <p:txBody>
          <a:bodyPr/>
          <a:lstStyle/>
          <a:p>
            <a:fld id="{2ABAD28B-DD56-4B56-883A-96608C765E28}" type="datetimeFigureOut">
              <a:rPr lang="en-US" smtClean="0"/>
              <a:pPr/>
              <a:t>8/19/26</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5876642" y="4829175"/>
            <a:ext cx="451077" cy="314325"/>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6499170" y="0"/>
            <a:ext cx="2644829" cy="51435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1927416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050" y="836802"/>
            <a:ext cx="3553937" cy="966127"/>
          </a:xfrm>
        </p:spPr>
        <p:txBody>
          <a:bodyPr anchor="t">
            <a:normAutofit/>
          </a:bodyPr>
          <a:lstStyle>
            <a:lvl1pPr>
              <a:defRPr sz="27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6144" y="1914093"/>
            <a:ext cx="3553838" cy="280078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816050" y="4829175"/>
            <a:ext cx="2380549" cy="314325"/>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3264254" y="4829175"/>
            <a:ext cx="648528" cy="314325"/>
          </a:xfrm>
        </p:spPr>
        <p:txBody>
          <a:bodyPr/>
          <a:lstStyle/>
          <a:p>
            <a:fld id="{2ABAD28B-DD56-4B56-883A-96608C765E28}" type="datetimeFigureOut">
              <a:rPr lang="en-US" smtClean="0"/>
              <a:pPr/>
              <a:t>8/19/26</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3918905" y="4829175"/>
            <a:ext cx="451077" cy="314325"/>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0" y="0"/>
            <a:ext cx="4572000" cy="51435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5579625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3797" y="833326"/>
            <a:ext cx="2860384" cy="1120397"/>
          </a:xfrm>
        </p:spPr>
        <p:txBody>
          <a:bodyPr anchor="t">
            <a:noAutofit/>
          </a:bodyPr>
          <a:lstStyle>
            <a:lvl1pPr>
              <a:defRPr sz="27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3797" y="2025503"/>
            <a:ext cx="2860385" cy="268937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823797" y="4829175"/>
            <a:ext cx="1687001" cy="314325"/>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2578453" y="4829175"/>
            <a:ext cx="648528" cy="314325"/>
          </a:xfrm>
        </p:spPr>
        <p:txBody>
          <a:bodyPr/>
          <a:lstStyle/>
          <a:p>
            <a:fld id="{2ABAD28B-DD56-4B56-883A-96608C765E28}" type="datetimeFigureOut">
              <a:rPr lang="en-US" smtClean="0"/>
              <a:pPr/>
              <a:t>8/19/26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3233104" y="4829175"/>
            <a:ext cx="451077" cy="314325"/>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3894174" y="0"/>
            <a:ext cx="5249826" cy="51435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25685550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5920656" y="834324"/>
            <a:ext cx="2423245" cy="1394206"/>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9144" y="0"/>
            <a:ext cx="5611333" cy="51435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5925960" y="2349941"/>
            <a:ext cx="2417940" cy="1992188"/>
          </a:xfrm>
        </p:spPr>
        <p:txBody>
          <a:bodyPr vert="horz" lIns="91440" tIns="45720" rIns="91440" bIns="45720" rtlCol="0">
            <a:normAutofit/>
          </a:bodyPr>
          <a:lstStyle>
            <a:lvl1pPr marL="0" indent="0">
              <a:lnSpc>
                <a:spcPct val="100000"/>
              </a:lnSpc>
              <a:buNone/>
              <a:defRPr lang="en-US" dirty="0"/>
            </a:lvl1pPr>
            <a:lvl2pPr marL="171450" indent="0">
              <a:lnSpc>
                <a:spcPct val="100000"/>
              </a:lnSpc>
              <a:buNone/>
              <a:defRPr lang="en-US" dirty="0"/>
            </a:lvl2pPr>
            <a:lvl3pPr marL="342900" indent="0">
              <a:lnSpc>
                <a:spcPct val="100000"/>
              </a:lnSpc>
              <a:buNone/>
              <a:defRPr lang="en-US" dirty="0"/>
            </a:lvl3pPr>
            <a:lvl4pPr marL="514350" indent="0">
              <a:lnSpc>
                <a:spcPct val="100000"/>
              </a:lnSpc>
              <a:buNone/>
              <a:defRPr lang="en-US" dirty="0"/>
            </a:lvl4pPr>
            <a:lvl5pPr marL="6858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853171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5920655" y="4829175"/>
            <a:ext cx="1249862" cy="314325"/>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7238172" y="4829175"/>
            <a:ext cx="648528" cy="314325"/>
          </a:xfrm>
        </p:spPr>
        <p:txBody>
          <a:bodyPr/>
          <a:lstStyle/>
          <a:p>
            <a:fld id="{2ABAD28B-DD56-4B56-883A-96608C765E28}" type="datetimeFigureOut">
              <a:rPr lang="en-US" smtClean="0"/>
              <a:pPr/>
              <a:t>8/19/26</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7892823" y="4829175"/>
            <a:ext cx="451077" cy="3143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4380190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6493" y="2990852"/>
            <a:ext cx="2283716" cy="1732339"/>
          </a:xfrm>
        </p:spPr>
        <p:txBody>
          <a:bodyPr anchor="t">
            <a:normAutofit/>
          </a:bodyPr>
          <a:lstStyle>
            <a:lvl1pPr>
              <a:defRPr sz="27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
            <a:ext cx="9144000" cy="258249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191952" y="2990852"/>
            <a:ext cx="5595022" cy="1732339"/>
          </a:xfrm>
        </p:spPr>
        <p:txBody>
          <a:bodyPr vert="horz" lIns="91440" tIns="45720" rIns="91440" bIns="45720" rtlCol="0" anchor="t">
            <a:normAutofit/>
          </a:bodyPr>
          <a:lstStyle>
            <a:lvl1pPr marL="0" indent="0">
              <a:lnSpc>
                <a:spcPct val="100000"/>
              </a:lnSpc>
              <a:buNone/>
              <a:defRPr lang="en-US" dirty="0"/>
            </a:lvl1pPr>
            <a:lvl2pPr marL="171450" indent="0">
              <a:lnSpc>
                <a:spcPct val="100000"/>
              </a:lnSpc>
              <a:buNone/>
              <a:defRPr lang="en-US" dirty="0"/>
            </a:lvl2pPr>
            <a:lvl3pPr marL="342900" indent="0">
              <a:lnSpc>
                <a:spcPct val="100000"/>
              </a:lnSpc>
              <a:buNone/>
              <a:defRPr lang="en-US" dirty="0"/>
            </a:lvl3pPr>
            <a:lvl4pPr marL="514350" indent="0">
              <a:lnSpc>
                <a:spcPct val="100000"/>
              </a:lnSpc>
              <a:buNone/>
              <a:defRPr lang="en-US" dirty="0"/>
            </a:lvl4pPr>
            <a:lvl5pPr marL="6858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3086319"/>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smtClean="0"/>
              <a:pPr/>
              <a:t>8/19/26</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425833796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818205" y="840743"/>
            <a:ext cx="7857990" cy="726948"/>
          </a:xfrm>
        </p:spPr>
        <p:txBody>
          <a:bodyPr anchor="t">
            <a:noAutofit/>
          </a:bodyPr>
          <a:lstStyle>
            <a:lvl1pPr>
              <a:defRPr sz="27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1714506"/>
            <a:ext cx="4572000" cy="34289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018809" y="1714506"/>
            <a:ext cx="3657386" cy="300036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5018809" y="4829175"/>
            <a:ext cx="2219363" cy="314325"/>
          </a:xfrm>
        </p:spPr>
        <p:txBody>
          <a:bodyPr/>
          <a:lstStyle/>
          <a:p>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smtClean="0"/>
              <a:pPr/>
              <a:t>8/19/26</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27391741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818205" y="841650"/>
            <a:ext cx="2772644" cy="1128868"/>
          </a:xfrm>
        </p:spPr>
        <p:txBody>
          <a:bodyPr anchor="t">
            <a:noAutofit/>
          </a:bodyPr>
          <a:lstStyle>
            <a:lvl1pPr>
              <a:defRPr sz="27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885826" y="2130136"/>
            <a:ext cx="2705024" cy="258473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3835255" y="841650"/>
            <a:ext cx="4951718" cy="387322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8/19/26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32274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3485478" y="3567895"/>
            <a:ext cx="4858422" cy="844916"/>
          </a:xfrm>
        </p:spPr>
        <p:txBody>
          <a:bodyPr anchor="b">
            <a:normAutofit/>
          </a:bodyPr>
          <a:lstStyle>
            <a:lvl1pPr algn="r">
              <a:defRPr sz="15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61722" y="48006"/>
            <a:ext cx="9020556" cy="3450444"/>
          </a:xfrm>
        </p:spPr>
        <p:txBody>
          <a:bodyPr>
            <a:noAutofit/>
          </a:bodyPr>
          <a:lstStyle>
            <a:lvl1pPr>
              <a:lnSpc>
                <a:spcPct val="85000"/>
              </a:lnSpc>
              <a:defRPr sz="2325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8/19/26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8540854" y="4286250"/>
            <a:ext cx="603146"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85981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964696"/>
            <a:ext cx="7989570" cy="850392"/>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816102" y="779321"/>
            <a:ext cx="7063740" cy="3802551"/>
          </a:xfrm>
        </p:spPr>
        <p:txBody>
          <a:bodyPr anchor="t">
            <a:noAutofit/>
          </a:bodyPr>
          <a:lstStyle>
            <a:lvl1pPr marL="0" indent="0">
              <a:lnSpc>
                <a:spcPct val="90000"/>
              </a:lnSpc>
              <a:buNone/>
              <a:defRPr sz="4500" b="1"/>
            </a:lvl1pPr>
            <a:lvl2pPr marL="171450" indent="0">
              <a:lnSpc>
                <a:spcPct val="90000"/>
              </a:lnSpc>
              <a:buNone/>
              <a:defRPr sz="4500" b="1"/>
            </a:lvl2pPr>
            <a:lvl3pPr marL="342900" indent="0">
              <a:lnSpc>
                <a:spcPct val="90000"/>
              </a:lnSpc>
              <a:buNone/>
              <a:defRPr sz="4500" b="1"/>
            </a:lvl3pPr>
            <a:lvl4pPr marL="514350" indent="0">
              <a:lnSpc>
                <a:spcPct val="90000"/>
              </a:lnSpc>
              <a:buNone/>
              <a:defRPr sz="4500" b="1"/>
            </a:lvl4pPr>
            <a:lvl5pPr marL="685800" indent="0">
              <a:lnSpc>
                <a:spcPct val="90000"/>
              </a:lnSpc>
              <a:buNone/>
              <a:defRPr sz="45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8/19/26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142410"/>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800100" y="4063770"/>
            <a:ext cx="7543800" cy="349759"/>
          </a:xfrm>
        </p:spPr>
        <p:txBody>
          <a:bodyPr anchor="b">
            <a:normAutofit/>
          </a:bodyPr>
          <a:lstStyle>
            <a:lvl1pPr algn="r">
              <a:lnSpc>
                <a:spcPct val="100000"/>
              </a:lnSpc>
              <a:defRPr sz="15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71437" y="47625"/>
            <a:ext cx="8983266" cy="3810000"/>
          </a:xfrm>
        </p:spPr>
        <p:txBody>
          <a:bodyPr>
            <a:normAutofit/>
          </a:bodyPr>
          <a:lstStyle>
            <a:lvl1pPr>
              <a:lnSpc>
                <a:spcPct val="85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8/19/26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8540854" y="4286469"/>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340826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816102" y="839349"/>
            <a:ext cx="7417550" cy="903445"/>
          </a:xfrm>
        </p:spPr>
        <p:txBody>
          <a:bodyPr>
            <a:normAutofit/>
          </a:bodyPr>
          <a:lstStyle>
            <a:lvl1pPr>
              <a:defRPr sz="27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811639" y="1830426"/>
            <a:ext cx="3631129" cy="285096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4629150" y="1830427"/>
            <a:ext cx="3604502" cy="28509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smtClean="0"/>
              <a:t>8/19/26</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57580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818206" y="836497"/>
            <a:ext cx="7462091" cy="629142"/>
          </a:xfrm>
        </p:spPr>
        <p:txBody>
          <a:bodyPr>
            <a:normAutofit/>
          </a:bodyPr>
          <a:lstStyle>
            <a:lvl1pPr>
              <a:defRPr sz="27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819067" y="1442393"/>
            <a:ext cx="3612356" cy="629142"/>
          </a:xfrm>
        </p:spPr>
        <p:txBody>
          <a:bodyPr anchor="b">
            <a:normAutofit/>
          </a:bodyPr>
          <a:lstStyle>
            <a:lvl1pPr marL="0" indent="0">
              <a:lnSpc>
                <a:spcPct val="100000"/>
              </a:lnSpc>
              <a:buNone/>
              <a:defRPr sz="1350" b="1" cap="all" spc="75"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4661612" y="1442393"/>
            <a:ext cx="3618685" cy="629142"/>
          </a:xfrm>
        </p:spPr>
        <p:txBody>
          <a:bodyPr anchor="b">
            <a:normAutofit/>
          </a:bodyPr>
          <a:lstStyle>
            <a:lvl1pPr marL="0" indent="0">
              <a:lnSpc>
                <a:spcPct val="100000"/>
              </a:lnSpc>
              <a:buNone/>
              <a:defRPr sz="1350" b="1" cap="all" spc="75"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819067" y="2119344"/>
            <a:ext cx="3612356" cy="252290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4661612" y="2119344"/>
            <a:ext cx="3618685" cy="252290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smtClean="0"/>
              <a:t>8/19/26</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911762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816102" y="828075"/>
            <a:ext cx="7442073" cy="970671"/>
          </a:xfrm>
        </p:spPr>
        <p:txBody>
          <a:bodyPr>
            <a:normAutofit/>
          </a:bodyPr>
          <a:lstStyle>
            <a:lvl1pPr>
              <a:defRPr sz="27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smtClean="0"/>
              <a:t>8/19/26</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7607741"/>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smtClean="0"/>
              <a:t>8/19/26</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smtClean="0"/>
              <a:t>‹#›</a:t>
            </a:fld>
            <a:endParaRPr lang="en-US" dirty="0"/>
          </a:p>
        </p:txBody>
      </p:sp>
    </p:spTree>
    <p:extLst>
      <p:ext uri="{BB962C8B-B14F-4D97-AF65-F5344CB8AC3E}">
        <p14:creationId xmlns:p14="http://schemas.microsoft.com/office/powerpoint/2010/main" val="354399164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6102" y="816102"/>
            <a:ext cx="7970871" cy="1563413"/>
          </a:xfrm>
        </p:spPr>
        <p:txBody>
          <a:bodyPr anchor="t" anchorCtr="0">
            <a:noAutofit/>
          </a:bodyPr>
          <a:lstStyle>
            <a:lvl1pPr>
              <a:defRPr sz="45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816101" y="2457450"/>
            <a:ext cx="7970872" cy="2371725"/>
          </a:xfrm>
        </p:spPr>
        <p:txBody>
          <a:bodyPr/>
          <a:lstStyle>
            <a:lvl1pPr marL="0" indent="0">
              <a:lnSpc>
                <a:spcPct val="100000"/>
              </a:lnSpc>
              <a:buNone/>
              <a:defRPr>
                <a:solidFill>
                  <a:schemeClr val="tx1"/>
                </a:solidFill>
              </a:defRPr>
            </a:lvl1pPr>
            <a:lvl2pPr marL="171450" indent="0">
              <a:lnSpc>
                <a:spcPct val="100000"/>
              </a:lnSpc>
              <a:buNone/>
              <a:defRPr>
                <a:solidFill>
                  <a:schemeClr val="tx1"/>
                </a:solidFill>
              </a:defRPr>
            </a:lvl2pPr>
            <a:lvl3pPr marL="342900" indent="0">
              <a:lnSpc>
                <a:spcPct val="100000"/>
              </a:lnSpc>
              <a:buNone/>
              <a:defRPr>
                <a:solidFill>
                  <a:schemeClr val="tx1"/>
                </a:solidFill>
              </a:defRPr>
            </a:lvl3pPr>
            <a:lvl4pPr marL="514350" indent="0">
              <a:lnSpc>
                <a:spcPct val="100000"/>
              </a:lnSpc>
              <a:buNone/>
              <a:defRPr>
                <a:solidFill>
                  <a:schemeClr val="tx1"/>
                </a:solidFill>
              </a:defRPr>
            </a:lvl4pPr>
            <a:lvl5pPr marL="6858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1">
              <a:rPr lang="en-US" smtClean="0"/>
              <a:pPr/>
              <a:t>8/19/26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280089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6103" y="816102"/>
            <a:ext cx="6323075" cy="1381515"/>
          </a:xfrm>
        </p:spPr>
        <p:txBody>
          <a:bodyPr anchor="t" anchorCtr="0">
            <a:noAutofit/>
          </a:bodyPr>
          <a:lstStyle>
            <a:lvl1pPr>
              <a:defRPr sz="45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807910" y="3185019"/>
            <a:ext cx="6322979" cy="1206006"/>
          </a:xfrm>
        </p:spPr>
        <p:txBody>
          <a:bodyPr anchor="b">
            <a:noAutofit/>
          </a:bodyPr>
          <a:lstStyle>
            <a:lvl1pPr marL="0" indent="0">
              <a:lnSpc>
                <a:spcPct val="100000"/>
              </a:lnSpc>
              <a:buNone/>
              <a:defRPr sz="1500">
                <a:solidFill>
                  <a:schemeClr val="tx1"/>
                </a:solidFill>
              </a:defRPr>
            </a:lvl1pPr>
            <a:lvl2pPr marL="171450" indent="0">
              <a:lnSpc>
                <a:spcPct val="100000"/>
              </a:lnSpc>
              <a:buNone/>
              <a:defRPr sz="1500">
                <a:solidFill>
                  <a:schemeClr val="tx1"/>
                </a:solidFill>
              </a:defRPr>
            </a:lvl2pPr>
            <a:lvl3pPr marL="342900" indent="0">
              <a:lnSpc>
                <a:spcPct val="100000"/>
              </a:lnSpc>
              <a:buNone/>
              <a:defRPr sz="1500">
                <a:solidFill>
                  <a:schemeClr val="tx1"/>
                </a:solidFill>
              </a:defRPr>
            </a:lvl3pPr>
            <a:lvl4pPr marL="514350" indent="0">
              <a:lnSpc>
                <a:spcPct val="100000"/>
              </a:lnSpc>
              <a:buNone/>
              <a:defRPr sz="1500">
                <a:solidFill>
                  <a:schemeClr val="tx1"/>
                </a:solidFill>
              </a:defRPr>
            </a:lvl4pPr>
            <a:lvl5pPr marL="685800" indent="0">
              <a:lnSpc>
                <a:spcPct val="100000"/>
              </a:lnSpc>
              <a:buNone/>
              <a:defRPr sz="15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8/19/26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904596"/>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186812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2829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816102" y="817684"/>
            <a:ext cx="7442073" cy="70198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816102" y="1589809"/>
            <a:ext cx="7442073" cy="31250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816102" y="4829175"/>
            <a:ext cx="6422070" cy="314325"/>
          </a:xfrm>
          <a:prstGeom prst="rect">
            <a:avLst/>
          </a:prstGeom>
        </p:spPr>
        <p:txBody>
          <a:bodyPr vert="horz" lIns="91440" tIns="45720" rIns="91440" bIns="45720" rtlCol="0" anchor="ctr"/>
          <a:lstStyle>
            <a:lvl1pPr algn="l" rtl="0">
              <a:defRPr sz="675">
                <a:solidFill>
                  <a:schemeClr val="tx1"/>
                </a:solidFill>
              </a:defRPr>
            </a:lvl1pPr>
          </a:lstStyle>
          <a:p>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238172" y="4829175"/>
            <a:ext cx="648528" cy="314325"/>
          </a:xfrm>
          <a:prstGeom prst="rect">
            <a:avLst/>
          </a:prstGeom>
        </p:spPr>
        <p:txBody>
          <a:bodyPr vert="horz" lIns="91440" tIns="45720" rIns="91440" bIns="45720" rtlCol="0" anchor="ctr"/>
          <a:lstStyle>
            <a:lvl1pPr algn="l" rtl="0">
              <a:defRPr sz="675">
                <a:solidFill>
                  <a:schemeClr val="tx1"/>
                </a:solidFill>
              </a:defRPr>
            </a:lvl1pPr>
          </a:lstStyle>
          <a:p>
            <a:fld id="{2ABAD28B-DD56-4B56-883A-96608C765E28}" type="datetimeFigureOut">
              <a:rPr lang="en-US" smtClean="0"/>
              <a:pPr/>
              <a:t>8/19/26</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7892823" y="4829175"/>
            <a:ext cx="451077" cy="314325"/>
          </a:xfrm>
          <a:prstGeom prst="rect">
            <a:avLst/>
          </a:prstGeom>
        </p:spPr>
        <p:txBody>
          <a:bodyPr vert="horz" lIns="91440" tIns="45720" rIns="91440" bIns="45720" rtlCol="0" anchor="ctr"/>
          <a:lstStyle>
            <a:lvl1pPr algn="r" rtl="0">
              <a:defRPr sz="675">
                <a:solidFill>
                  <a:schemeClr val="tx1"/>
                </a:solidFill>
              </a:defRPr>
            </a:lvl1p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16589478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 id="2147483705" r:id="rId26"/>
    <p:sldLayoutId id="2147483706" r:id="rId27"/>
    <p:sldLayoutId id="2147483707" r:id="rId28"/>
  </p:sldLayoutIdLst>
  <p:hf sldNum="0" hdr="0" ftr="0" dt="0"/>
  <p:txStyles>
    <p:titleStyle>
      <a:lvl1pPr algn="l" defTabSz="685800" rtl="0" eaLnBrk="1" latinLnBrk="0" hangingPunct="1">
        <a:lnSpc>
          <a:spcPct val="85000"/>
        </a:lnSpc>
        <a:spcBef>
          <a:spcPct val="0"/>
        </a:spcBef>
        <a:buNone/>
        <a:defRPr sz="2700" b="1" kern="1200" cap="all" baseline="0">
          <a:solidFill>
            <a:schemeClr val="tx1"/>
          </a:solidFill>
          <a:latin typeface="+mj-lt"/>
          <a:ea typeface="+mj-ea"/>
          <a:cs typeface="+mj-cs"/>
        </a:defRPr>
      </a:lvl1pPr>
    </p:titleStyle>
    <p:bodyStyle>
      <a:lvl1pPr marL="0" indent="0" algn="l" defTabSz="685800" rtl="0" eaLnBrk="1" latinLnBrk="0" hangingPunct="1">
        <a:lnSpc>
          <a:spcPct val="130000"/>
        </a:lnSpc>
        <a:spcBef>
          <a:spcPts val="0"/>
        </a:spcBef>
        <a:buFont typeface="Neue Haas Grotesk Text Pro" panose="020B0504020202020204" pitchFamily="34" charset="0"/>
        <a:buNone/>
        <a:defRPr sz="1200" kern="1200">
          <a:solidFill>
            <a:schemeClr val="tx1"/>
          </a:solidFill>
          <a:latin typeface="+mn-lt"/>
          <a:ea typeface="+mn-ea"/>
          <a:cs typeface="+mn-cs"/>
        </a:defRPr>
      </a:lvl1pPr>
      <a:lvl2pPr marL="377190" indent="-171450" algn="l" defTabSz="685800" rtl="0" eaLnBrk="1" latinLnBrk="0" hangingPunct="1">
        <a:lnSpc>
          <a:spcPct val="130000"/>
        </a:lnSpc>
        <a:spcBef>
          <a:spcPts val="0"/>
        </a:spcBef>
        <a:buFont typeface="Neue Haas Grotesk Text Pro" panose="020B0504020202020204" pitchFamily="34" charset="0"/>
        <a:buChar char="-"/>
        <a:defRPr sz="1200" kern="1200">
          <a:solidFill>
            <a:schemeClr val="tx1"/>
          </a:solidFill>
          <a:latin typeface="+mn-lt"/>
          <a:ea typeface="+mn-ea"/>
          <a:cs typeface="+mn-cs"/>
        </a:defRPr>
      </a:lvl2pPr>
      <a:lvl3pPr marL="548640" indent="-171450" algn="l" defTabSz="685800" rtl="0" eaLnBrk="1" latinLnBrk="0" hangingPunct="1">
        <a:lnSpc>
          <a:spcPct val="130000"/>
        </a:lnSpc>
        <a:spcBef>
          <a:spcPts val="0"/>
        </a:spcBef>
        <a:buFont typeface="Neue Haas Grotesk Text Pro" panose="020B0504020202020204" pitchFamily="34" charset="0"/>
        <a:buChar char="-"/>
        <a:defRPr sz="1200" kern="1200">
          <a:solidFill>
            <a:schemeClr val="tx1"/>
          </a:solidFill>
          <a:latin typeface="+mn-lt"/>
          <a:ea typeface="+mn-ea"/>
          <a:cs typeface="+mn-cs"/>
        </a:defRPr>
      </a:lvl3pPr>
      <a:lvl4pPr marL="754380" indent="-171450" algn="l" defTabSz="685800" rtl="0" eaLnBrk="1" latinLnBrk="0" hangingPunct="1">
        <a:lnSpc>
          <a:spcPct val="130000"/>
        </a:lnSpc>
        <a:spcBef>
          <a:spcPts val="0"/>
        </a:spcBef>
        <a:buFont typeface="Neue Haas Grotesk Text Pro" panose="020B0504020202020204" pitchFamily="34" charset="0"/>
        <a:buChar char="-"/>
        <a:defRPr sz="1200" kern="1200">
          <a:solidFill>
            <a:schemeClr val="tx1"/>
          </a:solidFill>
          <a:latin typeface="+mn-lt"/>
          <a:ea typeface="+mn-ea"/>
          <a:cs typeface="+mn-cs"/>
        </a:defRPr>
      </a:lvl4pPr>
      <a:lvl5pPr marL="960120" indent="-171450" algn="l" defTabSz="685800" rtl="0" eaLnBrk="1" latinLnBrk="0" hangingPunct="1">
        <a:lnSpc>
          <a:spcPct val="130000"/>
        </a:lnSpc>
        <a:spcBef>
          <a:spcPts val="0"/>
        </a:spcBef>
        <a:buFont typeface="Neue Haas Grotesk Text Pro" panose="020B05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8.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gamedevkfupm/swe402/" TargetMode="External"/><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8.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8.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609600" y="2081212"/>
            <a:ext cx="3743325" cy="1095375"/>
          </a:xfrm>
          <a:prstGeom prst="rect">
            <a:avLst/>
          </a:prstGeom>
          <a:noFill/>
          <a:ln/>
        </p:spPr>
        <p:txBody>
          <a:bodyPr/>
          <a:lstStyle/>
          <a:p>
            <a:endParaRPr lang="en-US"/>
          </a:p>
        </p:txBody>
      </p:sp>
      <p:sp>
        <p:nvSpPr>
          <p:cNvPr id="5" name="Text 1"/>
          <p:cNvSpPr/>
          <p:nvPr/>
        </p:nvSpPr>
        <p:spPr>
          <a:xfrm>
            <a:off x="609600" y="4507706"/>
            <a:ext cx="6915150" cy="238125"/>
          </a:xfrm>
          <a:prstGeom prst="rect">
            <a:avLst/>
          </a:prstGeom>
          <a:noFill/>
          <a:ln/>
        </p:spPr>
        <p:txBody>
          <a:bodyPr wrap="square" rtlCol="0" anchor="ctr"/>
          <a:lstStyle/>
          <a:p>
            <a:pPr marL="0" indent="0" algn="l">
              <a:lnSpc>
                <a:spcPts val="1890"/>
              </a:lnSpc>
              <a:buNone/>
            </a:pPr>
            <a:r>
              <a:rPr lang="en-US" sz="1350" b="1" kern="0" spc="-13" dirty="0">
                <a:solidFill>
                  <a:srgbClr val="FFFFFF">
                    <a:alpha val="99000"/>
                  </a:srgbClr>
                </a:solidFill>
                <a:latin typeface="Inter" pitchFamily="34" charset="0"/>
                <a:ea typeface="Inter" pitchFamily="34" charset="-122"/>
                <a:cs typeface="Inter" pitchFamily="34" charset="-120"/>
              </a:rPr>
              <a:t>Dr. Omar Hammad, KFUPM</a:t>
            </a:r>
            <a:endParaRPr lang="en-US" sz="1350" dirty="0"/>
          </a:p>
        </p:txBody>
      </p:sp>
      <p:sp>
        <p:nvSpPr>
          <p:cNvPr id="6" name="Text 2"/>
          <p:cNvSpPr/>
          <p:nvPr/>
        </p:nvSpPr>
        <p:spPr>
          <a:xfrm>
            <a:off x="609600" y="514350"/>
            <a:ext cx="4200525" cy="238125"/>
          </a:xfrm>
          <a:prstGeom prst="rect">
            <a:avLst/>
          </a:prstGeom>
          <a:noFill/>
          <a:ln/>
        </p:spPr>
        <p:txBody>
          <a:bodyPr wrap="square" rtlCol="0" anchor="ctr"/>
          <a:lstStyle/>
          <a:p>
            <a:pPr marL="0" indent="0" algn="l">
              <a:lnSpc>
                <a:spcPts val="1890"/>
              </a:lnSpc>
              <a:buNone/>
            </a:pPr>
            <a:r>
              <a:rPr lang="en-US" sz="1350" kern="0" spc="-13" dirty="0">
                <a:solidFill>
                  <a:srgbClr val="FFFFFF">
                    <a:alpha val="99000"/>
                  </a:srgbClr>
                </a:solidFill>
                <a:latin typeface="Inter" pitchFamily="34" charset="0"/>
                <a:ea typeface="Inter" pitchFamily="34" charset="-122"/>
                <a:cs typeface="Inter" pitchFamily="34" charset="-120"/>
              </a:rPr>
              <a:t>Game Programming, KFUPM </a:t>
            </a:r>
            <a:endParaRPr lang="en-US" sz="1350" dirty="0"/>
          </a:p>
        </p:txBody>
      </p:sp>
      <p:sp>
        <p:nvSpPr>
          <p:cNvPr id="7" name="Text 3"/>
          <p:cNvSpPr/>
          <p:nvPr/>
        </p:nvSpPr>
        <p:spPr>
          <a:xfrm>
            <a:off x="609600" y="752475"/>
            <a:ext cx="4200525" cy="238125"/>
          </a:xfrm>
          <a:prstGeom prst="rect">
            <a:avLst/>
          </a:prstGeom>
          <a:noFill/>
          <a:ln/>
        </p:spPr>
        <p:txBody>
          <a:bodyPr wrap="square" rtlCol="0" anchor="ctr"/>
          <a:lstStyle/>
          <a:p>
            <a:pPr marL="0" indent="0" algn="l">
              <a:lnSpc>
                <a:spcPts val="1890"/>
              </a:lnSpc>
              <a:buNone/>
            </a:pPr>
            <a:r>
              <a:rPr lang="en-US" sz="1350" kern="0" spc="-13" dirty="0">
                <a:solidFill>
                  <a:srgbClr val="FFFFFF">
                    <a:alpha val="99000"/>
                  </a:srgbClr>
                </a:solidFill>
                <a:latin typeface="Inter" pitchFamily="34" charset="0"/>
                <a:ea typeface="Inter" pitchFamily="34" charset="-122"/>
                <a:cs typeface="Inter" pitchFamily="34" charset="-120"/>
              </a:rPr>
              <a:t>SWE 402, Lecture 1 </a:t>
            </a:r>
            <a:endParaRPr lang="en-US" sz="1350" dirty="0"/>
          </a:p>
        </p:txBody>
      </p:sp>
      <p:sp>
        <p:nvSpPr>
          <p:cNvPr id="8" name="Text 4"/>
          <p:cNvSpPr/>
          <p:nvPr/>
        </p:nvSpPr>
        <p:spPr>
          <a:xfrm>
            <a:off x="609600" y="2081212"/>
            <a:ext cx="3857469" cy="1095375"/>
          </a:xfrm>
          <a:prstGeom prst="rect">
            <a:avLst/>
          </a:prstGeom>
          <a:noFill/>
          <a:ln/>
        </p:spPr>
        <p:txBody>
          <a:bodyPr wrap="square" rtlCol="0" anchor="ctr"/>
          <a:lstStyle/>
          <a:p>
            <a:pPr marL="0" indent="0" algn="l">
              <a:lnSpc>
                <a:spcPts val="4320"/>
              </a:lnSpc>
              <a:buNone/>
            </a:pPr>
            <a:r>
              <a:rPr lang="en-US" sz="3600" b="1" kern="0" spc="-72" dirty="0">
                <a:solidFill>
                  <a:srgbClr val="FFFFFF">
                    <a:alpha val="99000"/>
                  </a:srgbClr>
                </a:solidFill>
                <a:latin typeface="Inter" pitchFamily="34" charset="0"/>
                <a:ea typeface="Inter" pitchFamily="34" charset="-122"/>
                <a:cs typeface="Inter" pitchFamily="34" charset="-120"/>
              </a:rPr>
              <a:t>Introduction to Game Dev Course</a:t>
            </a:r>
            <a:endParaRPr lang="en-US" sz="3600" dirty="0"/>
          </a:p>
        </p:txBody>
      </p:sp>
      <p:pic>
        <p:nvPicPr>
          <p:cNvPr id="9" name="Picture 8">
            <a:extLst>
              <a:ext uri="{FF2B5EF4-FFF2-40B4-BE49-F238E27FC236}">
                <a16:creationId xmlns:a16="http://schemas.microsoft.com/office/drawing/2014/main" id="{E1B37A79-E626-3DB0-B7A0-78652B9205B2}"/>
              </a:ext>
            </a:extLst>
          </p:cNvPr>
          <p:cNvPicPr>
            <a:picLocks noChangeAspect="1"/>
          </p:cNvPicPr>
          <p:nvPr/>
        </p:nvPicPr>
        <p:blipFill>
          <a:blip r:embed="rId3"/>
          <a:stretch>
            <a:fillRect/>
          </a:stretch>
        </p:blipFill>
        <p:spPr>
          <a:xfrm>
            <a:off x="4136048" y="180607"/>
            <a:ext cx="4896583" cy="48965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2771775" y="2400300"/>
            <a:ext cx="3600450" cy="342900"/>
          </a:xfrm>
          <a:prstGeom prst="rect">
            <a:avLst/>
          </a:prstGeom>
          <a:noFill/>
          <a:ln/>
        </p:spPr>
        <p:txBody>
          <a:bodyPr wrap="square" rtlCol="0" anchor="ctr"/>
          <a:lstStyle/>
          <a:p>
            <a:pPr marL="0" indent="0" algn="ctr">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Why Game Dev?</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03F79A2-F7FB-20D4-7C2C-750D001C933C}"/>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D9F838F-6BFB-C02F-8ACF-036CA44F35E6}"/>
              </a:ext>
            </a:extLst>
          </p:cNvPr>
          <p:cNvSpPr/>
          <p:nvPr/>
        </p:nvSpPr>
        <p:spPr>
          <a:xfrm>
            <a:off x="609600" y="493898"/>
            <a:ext cx="3600450" cy="342900"/>
          </a:xfrm>
          <a:prstGeom prst="rect">
            <a:avLst/>
          </a:prstGeom>
          <a:noFill/>
          <a:ln/>
        </p:spPr>
        <p:txBody>
          <a:bodyPr wrap="square" rtlCol="0" anchor="ctr"/>
          <a:lstStyle/>
          <a:p>
            <a:pPr marL="0" indent="0" algn="l">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Why Game Dev</a:t>
            </a:r>
            <a:endParaRPr lang="en-US" sz="2250" dirty="0"/>
          </a:p>
        </p:txBody>
      </p:sp>
      <p:sp>
        <p:nvSpPr>
          <p:cNvPr id="4" name="Text 1">
            <a:extLst>
              <a:ext uri="{FF2B5EF4-FFF2-40B4-BE49-F238E27FC236}">
                <a16:creationId xmlns:a16="http://schemas.microsoft.com/office/drawing/2014/main" id="{23560523-C425-998A-D58E-AF2F51CB8F84}"/>
              </a:ext>
            </a:extLst>
          </p:cNvPr>
          <p:cNvSpPr/>
          <p:nvPr/>
        </p:nvSpPr>
        <p:spPr>
          <a:xfrm>
            <a:off x="609600" y="901944"/>
            <a:ext cx="3695700" cy="1428750"/>
          </a:xfrm>
          <a:prstGeom prst="rect">
            <a:avLst/>
          </a:prstGeom>
          <a:noFill/>
          <a:ln/>
        </p:spPr>
        <p:txBody>
          <a:bodyPr wrap="square" rtlCol="0" anchor="ctr"/>
          <a:lstStyle/>
          <a:p>
            <a:pPr marL="342900" indent="-342900">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National priority </a:t>
            </a:r>
          </a:p>
          <a:p>
            <a:pPr marL="342900" indent="-342900">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Strong Career </a:t>
            </a:r>
          </a:p>
          <a:p>
            <a:pPr marL="342900" indent="-342900">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Startup opportunities</a:t>
            </a:r>
          </a:p>
          <a:p>
            <a:pPr marL="342900" indent="-342900">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Export our culture </a:t>
            </a:r>
          </a:p>
        </p:txBody>
      </p:sp>
      <p:pic>
        <p:nvPicPr>
          <p:cNvPr id="2" name="Picture 1">
            <a:extLst>
              <a:ext uri="{FF2B5EF4-FFF2-40B4-BE49-F238E27FC236}">
                <a16:creationId xmlns:a16="http://schemas.microsoft.com/office/drawing/2014/main" id="{04B613D9-3DDA-BEFD-ECC7-DC772E7EDB02}"/>
              </a:ext>
            </a:extLst>
          </p:cNvPr>
          <p:cNvPicPr>
            <a:picLocks noChangeAspect="1"/>
          </p:cNvPicPr>
          <p:nvPr/>
        </p:nvPicPr>
        <p:blipFill>
          <a:blip r:embed="rId3"/>
          <a:stretch>
            <a:fillRect/>
          </a:stretch>
        </p:blipFill>
        <p:spPr>
          <a:xfrm rot="20700000">
            <a:off x="3307892" y="1089485"/>
            <a:ext cx="2867239" cy="2001768"/>
          </a:xfrm>
          <a:prstGeom prst="rect">
            <a:avLst/>
          </a:prstGeom>
        </p:spPr>
      </p:pic>
      <p:pic>
        <p:nvPicPr>
          <p:cNvPr id="6" name="Picture 5">
            <a:extLst>
              <a:ext uri="{FF2B5EF4-FFF2-40B4-BE49-F238E27FC236}">
                <a16:creationId xmlns:a16="http://schemas.microsoft.com/office/drawing/2014/main" id="{D29CD39E-D0CF-A79C-D7D8-85CB949F3BA3}"/>
              </a:ext>
            </a:extLst>
          </p:cNvPr>
          <p:cNvPicPr>
            <a:picLocks noChangeAspect="1"/>
          </p:cNvPicPr>
          <p:nvPr/>
        </p:nvPicPr>
        <p:blipFill>
          <a:blip r:embed="rId4"/>
          <a:stretch>
            <a:fillRect/>
          </a:stretch>
        </p:blipFill>
        <p:spPr>
          <a:xfrm rot="1042023">
            <a:off x="5779955" y="1039602"/>
            <a:ext cx="2894637" cy="2533974"/>
          </a:xfrm>
          <a:prstGeom prst="rect">
            <a:avLst/>
          </a:prstGeom>
        </p:spPr>
      </p:pic>
      <p:sp>
        <p:nvSpPr>
          <p:cNvPr id="8" name="TextBox 7">
            <a:extLst>
              <a:ext uri="{FF2B5EF4-FFF2-40B4-BE49-F238E27FC236}">
                <a16:creationId xmlns:a16="http://schemas.microsoft.com/office/drawing/2014/main" id="{60FB7609-9DFB-AE2C-28AC-ACD767753921}"/>
              </a:ext>
            </a:extLst>
          </p:cNvPr>
          <p:cNvSpPr txBox="1"/>
          <p:nvPr/>
        </p:nvSpPr>
        <p:spPr>
          <a:xfrm>
            <a:off x="556845" y="4228793"/>
            <a:ext cx="7804739" cy="215444"/>
          </a:xfrm>
          <a:prstGeom prst="rect">
            <a:avLst/>
          </a:prstGeom>
          <a:noFill/>
        </p:spPr>
        <p:txBody>
          <a:bodyPr wrap="square">
            <a:spAutoFit/>
          </a:bodyPr>
          <a:lstStyle/>
          <a:p>
            <a:r>
              <a:rPr lang="en-US" sz="800" dirty="0">
                <a:solidFill>
                  <a:schemeClr val="bg1"/>
                </a:solidFill>
              </a:rPr>
              <a:t>https://</a:t>
            </a:r>
            <a:r>
              <a:rPr lang="en-US" sz="800" dirty="0" err="1">
                <a:solidFill>
                  <a:schemeClr val="bg1"/>
                </a:solidFill>
              </a:rPr>
              <a:t>www.neom.com</a:t>
            </a:r>
            <a:r>
              <a:rPr lang="en-US" sz="800" dirty="0">
                <a:solidFill>
                  <a:schemeClr val="bg1"/>
                </a:solidFill>
              </a:rPr>
              <a:t>/</a:t>
            </a:r>
            <a:r>
              <a:rPr lang="en-US" sz="800" dirty="0" err="1">
                <a:solidFill>
                  <a:schemeClr val="bg1"/>
                </a:solidFill>
              </a:rPr>
              <a:t>en</a:t>
            </a:r>
            <a:r>
              <a:rPr lang="en-US" sz="800" dirty="0">
                <a:solidFill>
                  <a:schemeClr val="bg1"/>
                </a:solidFill>
              </a:rPr>
              <a:t>-us/newsroom/NEOM-Gaming-Accelerator-Welcomes-Largest-Ever-Cycle-of-Startup-Studios?utm_source=</a:t>
            </a:r>
            <a:r>
              <a:rPr lang="en-US" sz="800" dirty="0" err="1">
                <a:solidFill>
                  <a:schemeClr val="bg1"/>
                </a:solidFill>
              </a:rPr>
              <a:t>chatgpt.com</a:t>
            </a:r>
            <a:endParaRPr lang="en-US" sz="800" dirty="0">
              <a:solidFill>
                <a:schemeClr val="bg1"/>
              </a:solidFill>
            </a:endParaRPr>
          </a:p>
        </p:txBody>
      </p:sp>
      <p:sp>
        <p:nvSpPr>
          <p:cNvPr id="10" name="TextBox 9">
            <a:extLst>
              <a:ext uri="{FF2B5EF4-FFF2-40B4-BE49-F238E27FC236}">
                <a16:creationId xmlns:a16="http://schemas.microsoft.com/office/drawing/2014/main" id="{97FA5104-5594-54F7-1FDE-A7233AC7BF44}"/>
              </a:ext>
            </a:extLst>
          </p:cNvPr>
          <p:cNvSpPr txBox="1"/>
          <p:nvPr/>
        </p:nvSpPr>
        <p:spPr>
          <a:xfrm>
            <a:off x="556845" y="4379053"/>
            <a:ext cx="6717323" cy="215444"/>
          </a:xfrm>
          <a:prstGeom prst="rect">
            <a:avLst/>
          </a:prstGeom>
          <a:noFill/>
        </p:spPr>
        <p:txBody>
          <a:bodyPr wrap="square">
            <a:spAutoFit/>
          </a:bodyPr>
          <a:lstStyle/>
          <a:p>
            <a:r>
              <a:rPr lang="en-US" sz="800" dirty="0">
                <a:solidFill>
                  <a:schemeClr val="bg1"/>
                </a:solidFill>
              </a:rPr>
              <a:t>https://impact46.sa/saudi-vc-impact46-makes-sar-200m-bet-on-baloot-developer-in-landmark-gaming-deal/?</a:t>
            </a:r>
            <a:r>
              <a:rPr lang="en-US" sz="800" dirty="0" err="1">
                <a:solidFill>
                  <a:schemeClr val="bg1"/>
                </a:solidFill>
              </a:rPr>
              <a:t>utm_source</a:t>
            </a:r>
            <a:r>
              <a:rPr lang="en-US" sz="800" dirty="0">
                <a:solidFill>
                  <a:schemeClr val="bg1"/>
                </a:solidFill>
              </a:rPr>
              <a:t>=</a:t>
            </a:r>
            <a:r>
              <a:rPr lang="en-US" sz="800" dirty="0" err="1">
                <a:solidFill>
                  <a:schemeClr val="bg1"/>
                </a:solidFill>
              </a:rPr>
              <a:t>chatgpt.com</a:t>
            </a:r>
            <a:endParaRPr lang="en-US" sz="800" dirty="0">
              <a:solidFill>
                <a:schemeClr val="bg1"/>
              </a:solidFill>
            </a:endParaRPr>
          </a:p>
        </p:txBody>
      </p:sp>
      <p:pic>
        <p:nvPicPr>
          <p:cNvPr id="14" name="Picture 13">
            <a:extLst>
              <a:ext uri="{FF2B5EF4-FFF2-40B4-BE49-F238E27FC236}">
                <a16:creationId xmlns:a16="http://schemas.microsoft.com/office/drawing/2014/main" id="{BC9590CE-0884-D4E4-E3EC-77E7D2CFE32E}"/>
              </a:ext>
            </a:extLst>
          </p:cNvPr>
          <p:cNvPicPr>
            <a:picLocks noChangeAspect="1"/>
          </p:cNvPicPr>
          <p:nvPr/>
        </p:nvPicPr>
        <p:blipFill>
          <a:blip r:embed="rId5"/>
          <a:stretch>
            <a:fillRect/>
          </a:stretch>
        </p:blipFill>
        <p:spPr>
          <a:xfrm>
            <a:off x="3434861" y="3130803"/>
            <a:ext cx="5214771" cy="594788"/>
          </a:xfrm>
          <a:prstGeom prst="rect">
            <a:avLst/>
          </a:prstGeom>
        </p:spPr>
      </p:pic>
      <p:sp>
        <p:nvSpPr>
          <p:cNvPr id="16" name="TextBox 15">
            <a:extLst>
              <a:ext uri="{FF2B5EF4-FFF2-40B4-BE49-F238E27FC236}">
                <a16:creationId xmlns:a16="http://schemas.microsoft.com/office/drawing/2014/main" id="{91C5A0F9-0AF1-B752-0B74-05C9BA96784F}"/>
              </a:ext>
            </a:extLst>
          </p:cNvPr>
          <p:cNvSpPr txBox="1"/>
          <p:nvPr/>
        </p:nvSpPr>
        <p:spPr>
          <a:xfrm>
            <a:off x="556845" y="4525591"/>
            <a:ext cx="6717323" cy="215444"/>
          </a:xfrm>
          <a:prstGeom prst="rect">
            <a:avLst/>
          </a:prstGeom>
          <a:noFill/>
        </p:spPr>
        <p:txBody>
          <a:bodyPr wrap="square">
            <a:spAutoFit/>
          </a:bodyPr>
          <a:lstStyle/>
          <a:p>
            <a:r>
              <a:rPr lang="en-US" sz="800" dirty="0">
                <a:solidFill>
                  <a:schemeClr val="bg1"/>
                </a:solidFill>
              </a:rPr>
              <a:t>https://</a:t>
            </a:r>
            <a:r>
              <a:rPr lang="en-US" sz="800" dirty="0" err="1">
                <a:solidFill>
                  <a:schemeClr val="bg1"/>
                </a:solidFill>
              </a:rPr>
              <a:t>www.pif.gov.sa</a:t>
            </a:r>
            <a:r>
              <a:rPr lang="en-US" sz="800" dirty="0">
                <a:solidFill>
                  <a:schemeClr val="bg1"/>
                </a:solidFill>
              </a:rPr>
              <a:t>/</a:t>
            </a:r>
            <a:r>
              <a:rPr lang="en-US" sz="800" dirty="0" err="1">
                <a:solidFill>
                  <a:schemeClr val="bg1"/>
                </a:solidFill>
              </a:rPr>
              <a:t>en</a:t>
            </a:r>
            <a:r>
              <a:rPr lang="en-US" sz="800" dirty="0">
                <a:solidFill>
                  <a:schemeClr val="bg1"/>
                </a:solidFill>
              </a:rPr>
              <a:t>/news-and-insights/newswire/2024/savvy-games-group-publishes-its-first-annual-report/?</a:t>
            </a:r>
            <a:r>
              <a:rPr lang="en-US" sz="800" dirty="0" err="1">
                <a:solidFill>
                  <a:schemeClr val="bg1"/>
                </a:solidFill>
              </a:rPr>
              <a:t>utm_source</a:t>
            </a:r>
            <a:r>
              <a:rPr lang="en-US" sz="800" dirty="0">
                <a:solidFill>
                  <a:schemeClr val="bg1"/>
                </a:solidFill>
              </a:rPr>
              <a:t>=</a:t>
            </a:r>
            <a:r>
              <a:rPr lang="en-US" sz="800" dirty="0" err="1">
                <a:solidFill>
                  <a:schemeClr val="bg1"/>
                </a:solidFill>
              </a:rPr>
              <a:t>chatgpt.com</a:t>
            </a:r>
            <a:endParaRPr lang="en-US" sz="800" dirty="0">
              <a:solidFill>
                <a:schemeClr val="bg1"/>
              </a:solidFill>
            </a:endParaRPr>
          </a:p>
        </p:txBody>
      </p:sp>
    </p:spTree>
    <p:extLst>
      <p:ext uri="{BB962C8B-B14F-4D97-AF65-F5344CB8AC3E}">
        <p14:creationId xmlns:p14="http://schemas.microsoft.com/office/powerpoint/2010/main" val="3627840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AE6C64B-248C-3935-BB3B-513C6223293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F88F0FB-0DBD-48AE-3C6E-48C7B2EBD00D}"/>
              </a:ext>
            </a:extLst>
          </p:cNvPr>
          <p:cNvSpPr/>
          <p:nvPr/>
        </p:nvSpPr>
        <p:spPr>
          <a:xfrm>
            <a:off x="2771775" y="2400300"/>
            <a:ext cx="3600450" cy="342900"/>
          </a:xfrm>
          <a:prstGeom prst="rect">
            <a:avLst/>
          </a:prstGeom>
          <a:noFill/>
          <a:ln/>
        </p:spPr>
        <p:txBody>
          <a:bodyPr wrap="square" rtlCol="0" anchor="ctr"/>
          <a:lstStyle/>
          <a:p>
            <a:pPr marL="0" indent="0" algn="ctr">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It is also Fun &amp; Impactful! </a:t>
            </a:r>
            <a:endParaRPr lang="en-US" sz="2250" dirty="0"/>
          </a:p>
        </p:txBody>
      </p:sp>
      <p:pic>
        <p:nvPicPr>
          <p:cNvPr id="13" name="Picture 12">
            <a:extLst>
              <a:ext uri="{FF2B5EF4-FFF2-40B4-BE49-F238E27FC236}">
                <a16:creationId xmlns:a16="http://schemas.microsoft.com/office/drawing/2014/main" id="{56485379-9629-71E4-BB94-DC0ABE74C73A}"/>
              </a:ext>
            </a:extLst>
          </p:cNvPr>
          <p:cNvPicPr>
            <a:picLocks noChangeAspect="1"/>
          </p:cNvPicPr>
          <p:nvPr/>
        </p:nvPicPr>
        <p:blipFill>
          <a:blip r:embed="rId3"/>
          <a:stretch>
            <a:fillRect/>
          </a:stretch>
        </p:blipFill>
        <p:spPr>
          <a:xfrm>
            <a:off x="5709633" y="1617785"/>
            <a:ext cx="731043" cy="899745"/>
          </a:xfrm>
          <a:prstGeom prst="rect">
            <a:avLst/>
          </a:prstGeom>
        </p:spPr>
      </p:pic>
    </p:spTree>
    <p:extLst>
      <p:ext uri="{BB962C8B-B14F-4D97-AF65-F5344CB8AC3E}">
        <p14:creationId xmlns:p14="http://schemas.microsoft.com/office/powerpoint/2010/main" val="697550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A2AFC6B-BC74-B020-8001-B9BB24657D5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38C1846-89CB-B857-2F1A-B5339BF9DEF0}"/>
              </a:ext>
            </a:extLst>
          </p:cNvPr>
          <p:cNvSpPr/>
          <p:nvPr/>
        </p:nvSpPr>
        <p:spPr>
          <a:xfrm>
            <a:off x="609600" y="2400300"/>
            <a:ext cx="3600450" cy="342900"/>
          </a:xfrm>
          <a:prstGeom prst="rect">
            <a:avLst/>
          </a:prstGeom>
          <a:noFill/>
          <a:ln/>
        </p:spPr>
        <p:txBody>
          <a:bodyPr wrap="square" rtlCol="0" anchor="ctr"/>
          <a:lstStyle/>
          <a:p>
            <a:pPr marL="0" indent="0" algn="l">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In today’s lecture</a:t>
            </a:r>
            <a:endParaRPr lang="en-US" sz="2250" dirty="0"/>
          </a:p>
        </p:txBody>
      </p:sp>
      <p:sp>
        <p:nvSpPr>
          <p:cNvPr id="4" name="Text 1">
            <a:extLst>
              <a:ext uri="{FF2B5EF4-FFF2-40B4-BE49-F238E27FC236}">
                <a16:creationId xmlns:a16="http://schemas.microsoft.com/office/drawing/2014/main" id="{CDE8CD41-B22C-1543-1146-BD2AC5C17A20}"/>
              </a:ext>
            </a:extLst>
          </p:cNvPr>
          <p:cNvSpPr/>
          <p:nvPr/>
        </p:nvSpPr>
        <p:spPr>
          <a:xfrm>
            <a:off x="4610100" y="1857375"/>
            <a:ext cx="3695700" cy="1428750"/>
          </a:xfrm>
          <a:prstGeom prst="rect">
            <a:avLst/>
          </a:prstGeom>
          <a:noFill/>
          <a:ln/>
        </p:spPr>
        <p:txBody>
          <a:bodyPr wrap="square" rtlCol="0" anchor="ctr"/>
          <a:lstStyle/>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Knowing each other</a:t>
            </a:r>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Course structure </a:t>
            </a:r>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Teaching method</a:t>
            </a:r>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How to succeed in this course</a:t>
            </a:r>
          </a:p>
        </p:txBody>
      </p:sp>
    </p:spTree>
    <p:extLst>
      <p:ext uri="{BB962C8B-B14F-4D97-AF65-F5344CB8AC3E}">
        <p14:creationId xmlns:p14="http://schemas.microsoft.com/office/powerpoint/2010/main" val="4164935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124075"/>
            <a:ext cx="5715000" cy="900113"/>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35623" y="2476500"/>
            <a:ext cx="3209193" cy="547688"/>
          </a:xfrm>
          <a:prstGeom prst="rect">
            <a:avLst/>
          </a:prstGeom>
          <a:noFill/>
          <a:ln/>
        </p:spPr>
        <p:txBody>
          <a:bodyPr wrap="square" rtlCol="0" anchor="ctr"/>
          <a:lstStyle/>
          <a:p>
            <a:pPr algn="ctr">
              <a:lnSpc>
                <a:spcPts val="4320"/>
              </a:lnSpc>
            </a:pPr>
            <a:r>
              <a:rPr lang="en-US" sz="3600" b="1" kern="0" spc="-72" dirty="0">
                <a:solidFill>
                  <a:srgbClr val="FFFFFF">
                    <a:alpha val="99000"/>
                  </a:srgbClr>
                </a:solidFill>
                <a:latin typeface="Inter" pitchFamily="34" charset="0"/>
                <a:ea typeface="Inter" pitchFamily="34" charset="-122"/>
                <a:cs typeface="Inter" pitchFamily="34" charset="-120"/>
              </a:rPr>
              <a:t>What is your story?</a:t>
            </a:r>
            <a:endParaRPr lang="en-US" sz="3600" dirty="0"/>
          </a:p>
        </p:txBody>
      </p:sp>
      <p:pic>
        <p:nvPicPr>
          <p:cNvPr id="5" name="Picture 4">
            <a:extLst>
              <a:ext uri="{FF2B5EF4-FFF2-40B4-BE49-F238E27FC236}">
                <a16:creationId xmlns:a16="http://schemas.microsoft.com/office/drawing/2014/main" id="{ACC02E5B-85E5-93C1-EB2D-1A057CC08B35}"/>
              </a:ext>
            </a:extLst>
          </p:cNvPr>
          <p:cNvPicPr>
            <a:picLocks noChangeAspect="1"/>
          </p:cNvPicPr>
          <p:nvPr/>
        </p:nvPicPr>
        <p:blipFill>
          <a:blip r:embed="rId3"/>
          <a:stretch>
            <a:fillRect/>
          </a:stretch>
        </p:blipFill>
        <p:spPr>
          <a:xfrm>
            <a:off x="3944816" y="0"/>
            <a:ext cx="5143500" cy="5143500"/>
          </a:xfrm>
          <a:prstGeom prst="rect">
            <a:avLst/>
          </a:prstGeom>
        </p:spPr>
      </p:pic>
    </p:spTree>
    <p:extLst>
      <p:ext uri="{BB962C8B-B14F-4D97-AF65-F5344CB8AC3E}">
        <p14:creationId xmlns:p14="http://schemas.microsoft.com/office/powerpoint/2010/main" val="4239896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81FD16E-1B0F-7AA6-3AB8-7C4EE1CD108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55B8BC-9B90-878F-9B11-02873ADA0EEE}"/>
              </a:ext>
            </a:extLst>
          </p:cNvPr>
          <p:cNvPicPr>
            <a:picLocks noChangeAspect="1"/>
          </p:cNvPicPr>
          <p:nvPr/>
        </p:nvPicPr>
        <p:blipFill>
          <a:blip r:embed="rId3"/>
          <a:stretch>
            <a:fillRect/>
          </a:stretch>
        </p:blipFill>
        <p:spPr>
          <a:xfrm>
            <a:off x="-1258665" y="-709743"/>
            <a:ext cx="11661330" cy="6562985"/>
          </a:xfrm>
          <a:prstGeom prst="rect">
            <a:avLst/>
          </a:prstGeom>
        </p:spPr>
      </p:pic>
      <p:sp>
        <p:nvSpPr>
          <p:cNvPr id="3" name="Shape 0">
            <a:extLst>
              <a:ext uri="{FF2B5EF4-FFF2-40B4-BE49-F238E27FC236}">
                <a16:creationId xmlns:a16="http://schemas.microsoft.com/office/drawing/2014/main" id="{F16DC740-5431-3062-A074-327123A73C97}"/>
              </a:ext>
            </a:extLst>
          </p:cNvPr>
          <p:cNvSpPr/>
          <p:nvPr/>
        </p:nvSpPr>
        <p:spPr>
          <a:xfrm>
            <a:off x="1714500" y="2300288"/>
            <a:ext cx="5715000" cy="547688"/>
          </a:xfrm>
          <a:prstGeom prst="rect">
            <a:avLst/>
          </a:prstGeom>
          <a:noFill/>
          <a:ln/>
        </p:spPr>
        <p:txBody>
          <a:bodyPr/>
          <a:lstStyle/>
          <a:p>
            <a:endParaRPr lang="en-US"/>
          </a:p>
        </p:txBody>
      </p:sp>
      <p:sp>
        <p:nvSpPr>
          <p:cNvPr id="4" name="Text 1">
            <a:extLst>
              <a:ext uri="{FF2B5EF4-FFF2-40B4-BE49-F238E27FC236}">
                <a16:creationId xmlns:a16="http://schemas.microsoft.com/office/drawing/2014/main" id="{AAA97226-FD23-52D9-9F11-CBBC5C9A2A38}"/>
              </a:ext>
            </a:extLst>
          </p:cNvPr>
          <p:cNvSpPr/>
          <p:nvPr/>
        </p:nvSpPr>
        <p:spPr>
          <a:xfrm>
            <a:off x="1485900" y="2183058"/>
            <a:ext cx="6172200" cy="547688"/>
          </a:xfrm>
          <a:prstGeom prst="rect">
            <a:avLst/>
          </a:prstGeom>
          <a:noFill/>
          <a:ln/>
        </p:spPr>
        <p:txBody>
          <a:bodyPr wrap="square" rtlCol="0" anchor="ctr"/>
          <a:lstStyle/>
          <a:p>
            <a:pPr marL="0" indent="0" algn="ctr">
              <a:lnSpc>
                <a:spcPts val="4320"/>
              </a:lnSpc>
              <a:buNone/>
            </a:pPr>
            <a:r>
              <a:rPr lang="en-US" sz="3600" b="1" kern="0" spc="-72" dirty="0">
                <a:solidFill>
                  <a:srgbClr val="FFFFFF">
                    <a:alpha val="99000"/>
                  </a:srgbClr>
                </a:solidFill>
                <a:latin typeface="Inter" pitchFamily="34" charset="0"/>
                <a:ea typeface="Inter" pitchFamily="34" charset="-122"/>
                <a:cs typeface="Inter" pitchFamily="34" charset="-120"/>
              </a:rPr>
              <a:t>What is a game?</a:t>
            </a:r>
            <a:endParaRPr lang="en-US" sz="3600" dirty="0"/>
          </a:p>
        </p:txBody>
      </p:sp>
    </p:spTree>
    <p:extLst>
      <p:ext uri="{BB962C8B-B14F-4D97-AF65-F5344CB8AC3E}">
        <p14:creationId xmlns:p14="http://schemas.microsoft.com/office/powerpoint/2010/main" val="2971546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609600" y="1947863"/>
            <a:ext cx="4405313" cy="1243515"/>
          </a:xfrm>
          <a:prstGeom prst="rect">
            <a:avLst/>
          </a:prstGeom>
          <a:no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948363" y="1157288"/>
            <a:ext cx="2314575" cy="2824163"/>
          </a:xfrm>
          <a:prstGeom prst="rect">
            <a:avLst/>
          </a:prstGeom>
        </p:spPr>
      </p:pic>
      <p:sp>
        <p:nvSpPr>
          <p:cNvPr id="5" name="Text 1"/>
          <p:cNvSpPr/>
          <p:nvPr/>
        </p:nvSpPr>
        <p:spPr>
          <a:xfrm>
            <a:off x="609600" y="609600"/>
            <a:ext cx="8001000"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Multiple Definitions ..  </a:t>
            </a:r>
            <a:endParaRPr lang="en-US" sz="1800" dirty="0"/>
          </a:p>
        </p:txBody>
      </p:sp>
      <p:sp>
        <p:nvSpPr>
          <p:cNvPr id="6" name="Text 2"/>
          <p:cNvSpPr/>
          <p:nvPr/>
        </p:nvSpPr>
        <p:spPr>
          <a:xfrm>
            <a:off x="609600" y="1947863"/>
            <a:ext cx="4862513" cy="942975"/>
          </a:xfrm>
          <a:prstGeom prst="rect">
            <a:avLst/>
          </a:prstGeom>
          <a:noFill/>
          <a:ln/>
        </p:spPr>
        <p:txBody>
          <a:bodyPr wrap="square" rtlCol="0" anchor="ctr"/>
          <a:lstStyle/>
          <a:p>
            <a:pPr marL="0" indent="0" algn="l">
              <a:lnSpc>
                <a:spcPts val="2493"/>
              </a:lnSpc>
              <a:buNone/>
            </a:pPr>
            <a:r>
              <a:rPr lang="en-US" sz="1781" kern="0" spc="-18" dirty="0">
                <a:solidFill>
                  <a:srgbClr val="FFFFFF">
                    <a:alpha val="99000"/>
                  </a:srgbClr>
                </a:solidFill>
                <a:latin typeface="Inter" pitchFamily="34" charset="0"/>
                <a:ea typeface="Inter" pitchFamily="34" charset="-122"/>
                <a:cs typeface="Inter" pitchFamily="34" charset="-120"/>
              </a:rPr>
              <a:t>“A closed formal system that engages players in structured conflict and resolves its uncertainty in an unequal out”</a:t>
            </a:r>
            <a:endParaRPr lang="en-US" sz="1781" dirty="0"/>
          </a:p>
        </p:txBody>
      </p:sp>
      <p:sp>
        <p:nvSpPr>
          <p:cNvPr id="7" name="Text 3"/>
          <p:cNvSpPr/>
          <p:nvPr/>
        </p:nvSpPr>
        <p:spPr>
          <a:xfrm>
            <a:off x="609600" y="2991353"/>
            <a:ext cx="4862513" cy="200025"/>
          </a:xfrm>
          <a:prstGeom prst="rect">
            <a:avLst/>
          </a:prstGeom>
          <a:noFill/>
          <a:ln/>
        </p:spPr>
        <p:txBody>
          <a:bodyPr wrap="square" rtlCol="0" anchor="ctr"/>
          <a:lstStyle/>
          <a:p>
            <a:pPr marL="0" indent="0" algn="l">
              <a:lnSpc>
                <a:spcPts val="1591"/>
              </a:lnSpc>
              <a:buNone/>
            </a:pPr>
            <a:r>
              <a:rPr lang="en-US" sz="1187" kern="0" spc="-6" dirty="0">
                <a:solidFill>
                  <a:srgbClr val="EEEEEE">
                    <a:alpha val="99000"/>
                  </a:srgbClr>
                </a:solidFill>
                <a:latin typeface="Inter" pitchFamily="34" charset="0"/>
                <a:ea typeface="Inter" pitchFamily="34" charset="-122"/>
                <a:cs typeface="Inter" pitchFamily="34" charset="-120"/>
              </a:rPr>
              <a:t>Game Design Workshop, Tracy Fullerton</a:t>
            </a:r>
            <a:endParaRPr lang="en-US" sz="118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609600" y="1947863"/>
            <a:ext cx="4124325" cy="1243515"/>
          </a:xfrm>
          <a:prstGeom prst="rect">
            <a:avLst/>
          </a:prstGeom>
          <a:no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895975" y="1176338"/>
            <a:ext cx="2257425" cy="2786063"/>
          </a:xfrm>
          <a:prstGeom prst="rect">
            <a:avLst/>
          </a:prstGeom>
        </p:spPr>
      </p:pic>
      <p:sp>
        <p:nvSpPr>
          <p:cNvPr id="5" name="Text 1"/>
          <p:cNvSpPr/>
          <p:nvPr/>
        </p:nvSpPr>
        <p:spPr>
          <a:xfrm>
            <a:off x="609600" y="609600"/>
            <a:ext cx="8001000"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Multiple Definitions ..  </a:t>
            </a:r>
            <a:endParaRPr lang="en-US" sz="1800" dirty="0"/>
          </a:p>
        </p:txBody>
      </p:sp>
      <p:sp>
        <p:nvSpPr>
          <p:cNvPr id="6" name="Text 2"/>
          <p:cNvSpPr/>
          <p:nvPr/>
        </p:nvSpPr>
        <p:spPr>
          <a:xfrm>
            <a:off x="609600" y="1947863"/>
            <a:ext cx="4581525" cy="942975"/>
          </a:xfrm>
          <a:prstGeom prst="rect">
            <a:avLst/>
          </a:prstGeom>
          <a:noFill/>
          <a:ln/>
        </p:spPr>
        <p:txBody>
          <a:bodyPr wrap="square" rtlCol="0" anchor="ctr"/>
          <a:lstStyle/>
          <a:p>
            <a:pPr marL="0" indent="0" algn="l">
              <a:lnSpc>
                <a:spcPts val="2493"/>
              </a:lnSpc>
              <a:buNone/>
            </a:pPr>
            <a:r>
              <a:rPr lang="en-US" sz="1781" kern="0" spc="-18" dirty="0">
                <a:solidFill>
                  <a:srgbClr val="FFFFFF">
                    <a:alpha val="99000"/>
                  </a:srgbClr>
                </a:solidFill>
                <a:latin typeface="Inter" pitchFamily="34" charset="0"/>
                <a:ea typeface="Inter" pitchFamily="34" charset="-122"/>
                <a:cs typeface="Inter" pitchFamily="34" charset="-120"/>
              </a:rPr>
              <a:t>“A system in which players engage in an artificial conflict, defined by rules that results in a quantifiable outcome”</a:t>
            </a:r>
            <a:endParaRPr lang="en-US" sz="1781" dirty="0"/>
          </a:p>
        </p:txBody>
      </p:sp>
      <p:sp>
        <p:nvSpPr>
          <p:cNvPr id="7" name="Text 3"/>
          <p:cNvSpPr/>
          <p:nvPr/>
        </p:nvSpPr>
        <p:spPr>
          <a:xfrm>
            <a:off x="609600" y="2991353"/>
            <a:ext cx="4581525" cy="200025"/>
          </a:xfrm>
          <a:prstGeom prst="rect">
            <a:avLst/>
          </a:prstGeom>
          <a:noFill/>
          <a:ln/>
        </p:spPr>
        <p:txBody>
          <a:bodyPr wrap="square" rtlCol="0" anchor="ctr"/>
          <a:lstStyle/>
          <a:p>
            <a:pPr marL="0" indent="0" algn="l">
              <a:lnSpc>
                <a:spcPts val="1591"/>
              </a:lnSpc>
              <a:buNone/>
            </a:pPr>
            <a:r>
              <a:rPr lang="en-US" sz="1187" kern="0" spc="-6" dirty="0">
                <a:solidFill>
                  <a:srgbClr val="EEEEEE">
                    <a:alpha val="99000"/>
                  </a:srgbClr>
                </a:solidFill>
                <a:latin typeface="Inter" pitchFamily="34" charset="0"/>
                <a:ea typeface="Inter" pitchFamily="34" charset="-122"/>
                <a:cs typeface="Inter" pitchFamily="34" charset="-120"/>
              </a:rPr>
              <a:t>Rules of Play, Katie Salen and Eric Zimmerman</a:t>
            </a:r>
            <a:endParaRPr lang="en-US" sz="118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609600" y="2262188"/>
            <a:ext cx="5000625" cy="614865"/>
          </a:xfrm>
          <a:prstGeom prst="rect">
            <a:avLst/>
          </a:prstGeom>
          <a:no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819775" y="1057275"/>
            <a:ext cx="2476500" cy="3024188"/>
          </a:xfrm>
          <a:prstGeom prst="rect">
            <a:avLst/>
          </a:prstGeom>
        </p:spPr>
      </p:pic>
      <p:sp>
        <p:nvSpPr>
          <p:cNvPr id="5" name="Text 1"/>
          <p:cNvSpPr/>
          <p:nvPr/>
        </p:nvSpPr>
        <p:spPr>
          <a:xfrm>
            <a:off x="609600" y="609600"/>
            <a:ext cx="8001000" cy="276225"/>
          </a:xfrm>
          <a:prstGeom prst="rect">
            <a:avLst/>
          </a:prstGeom>
          <a:noFill/>
          <a:ln/>
        </p:spPr>
        <p:txBody>
          <a:bodyPr wrap="square" rtlCol="0" anchor="ctr"/>
          <a:lstStyle/>
          <a:p>
            <a:pPr marL="0" indent="0" algn="l">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Multiple Definitions ..  </a:t>
            </a:r>
            <a:endParaRPr lang="en-US" sz="1800" dirty="0"/>
          </a:p>
        </p:txBody>
      </p:sp>
      <p:sp>
        <p:nvSpPr>
          <p:cNvPr id="6" name="Text 2"/>
          <p:cNvSpPr/>
          <p:nvPr/>
        </p:nvSpPr>
        <p:spPr>
          <a:xfrm>
            <a:off x="609600" y="2262188"/>
            <a:ext cx="5457825" cy="314325"/>
          </a:xfrm>
          <a:prstGeom prst="rect">
            <a:avLst/>
          </a:prstGeom>
          <a:noFill/>
          <a:ln/>
        </p:spPr>
        <p:txBody>
          <a:bodyPr wrap="square" rtlCol="0" anchor="ctr"/>
          <a:lstStyle/>
          <a:p>
            <a:pPr marL="0" indent="0" algn="l">
              <a:lnSpc>
                <a:spcPts val="2493"/>
              </a:lnSpc>
              <a:buNone/>
            </a:pPr>
            <a:r>
              <a:rPr lang="en-US" sz="1781" kern="0" spc="-18" dirty="0">
                <a:solidFill>
                  <a:srgbClr val="FFFFFF">
                    <a:alpha val="99000"/>
                  </a:srgbClr>
                </a:solidFill>
                <a:latin typeface="Inter" pitchFamily="34" charset="0"/>
                <a:ea typeface="Inter" pitchFamily="34" charset="-122"/>
                <a:cs typeface="Inter" pitchFamily="34" charset="-120"/>
              </a:rPr>
              <a:t>“A series of meaningful choices”</a:t>
            </a:r>
            <a:endParaRPr lang="en-US" sz="1781" dirty="0"/>
          </a:p>
        </p:txBody>
      </p:sp>
      <p:sp>
        <p:nvSpPr>
          <p:cNvPr id="7" name="Text 3"/>
          <p:cNvSpPr/>
          <p:nvPr/>
        </p:nvSpPr>
        <p:spPr>
          <a:xfrm>
            <a:off x="609600" y="2677028"/>
            <a:ext cx="5457825" cy="200025"/>
          </a:xfrm>
          <a:prstGeom prst="rect">
            <a:avLst/>
          </a:prstGeom>
          <a:noFill/>
          <a:ln/>
        </p:spPr>
        <p:txBody>
          <a:bodyPr wrap="square" rtlCol="0" anchor="ctr"/>
          <a:lstStyle/>
          <a:p>
            <a:pPr marL="0" indent="0" algn="l">
              <a:lnSpc>
                <a:spcPts val="1591"/>
              </a:lnSpc>
              <a:buNone/>
            </a:pPr>
            <a:r>
              <a:rPr lang="en-US" sz="1187" kern="0" spc="-6" dirty="0">
                <a:solidFill>
                  <a:srgbClr val="EEEEEE">
                    <a:alpha val="99000"/>
                  </a:srgbClr>
                </a:solidFill>
                <a:latin typeface="Inter" pitchFamily="34" charset="0"/>
                <a:ea typeface="Inter" pitchFamily="34" charset="-122"/>
                <a:cs typeface="Inter" pitchFamily="34" charset="-120"/>
              </a:rPr>
              <a:t>Sid Meier, Creator of Civilization</a:t>
            </a:r>
            <a:endParaRPr lang="en-US" sz="118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13" name="Text 5"/>
          <p:cNvSpPr/>
          <p:nvPr/>
        </p:nvSpPr>
        <p:spPr>
          <a:xfrm>
            <a:off x="800100" y="390525"/>
            <a:ext cx="8001000" cy="276225"/>
          </a:xfrm>
          <a:prstGeom prst="rect">
            <a:avLst/>
          </a:prstGeom>
          <a:noFill/>
          <a:ln/>
        </p:spPr>
        <p:txBody>
          <a:bodyPr wrap="square" rtlCol="0" anchor="ctr"/>
          <a:lstStyle/>
          <a:p>
            <a:pPr marL="0" indent="0" algn="ctr">
              <a:lnSpc>
                <a:spcPts val="2160"/>
              </a:lnSpc>
              <a:buNone/>
            </a:pPr>
            <a:r>
              <a:rPr lang="en-US" sz="1800" b="1" kern="0" spc="-36" dirty="0">
                <a:solidFill>
                  <a:srgbClr val="FFFFFF">
                    <a:alpha val="99000"/>
                  </a:srgbClr>
                </a:solidFill>
                <a:latin typeface="Inter" pitchFamily="34" charset="0"/>
                <a:ea typeface="Inter" pitchFamily="34" charset="-122"/>
                <a:cs typeface="Inter" pitchFamily="34" charset="-120"/>
              </a:rPr>
              <a:t>Core Elements of a game ..</a:t>
            </a:r>
            <a:endParaRPr lang="en-US" sz="1800" dirty="0"/>
          </a:p>
        </p:txBody>
      </p:sp>
      <p:pic>
        <p:nvPicPr>
          <p:cNvPr id="20" name="Picture 19">
            <a:extLst>
              <a:ext uri="{FF2B5EF4-FFF2-40B4-BE49-F238E27FC236}">
                <a16:creationId xmlns:a16="http://schemas.microsoft.com/office/drawing/2014/main" id="{3E0FAE8B-F60B-7831-1ECC-6B41C0527F36}"/>
              </a:ext>
            </a:extLst>
          </p:cNvPr>
          <p:cNvPicPr>
            <a:picLocks noChangeAspect="1"/>
          </p:cNvPicPr>
          <p:nvPr/>
        </p:nvPicPr>
        <p:blipFill>
          <a:blip r:embed="rId3"/>
          <a:stretch>
            <a:fillRect/>
          </a:stretch>
        </p:blipFill>
        <p:spPr>
          <a:xfrm>
            <a:off x="1298331" y="862194"/>
            <a:ext cx="6547338" cy="36848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124075"/>
            <a:ext cx="5715000" cy="900113"/>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714500" y="2124075"/>
            <a:ext cx="6172200" cy="547688"/>
          </a:xfrm>
          <a:prstGeom prst="rect">
            <a:avLst/>
          </a:prstGeom>
          <a:noFill/>
          <a:ln/>
        </p:spPr>
        <p:txBody>
          <a:bodyPr wrap="square" rtlCol="0" anchor="ctr"/>
          <a:lstStyle/>
          <a:p>
            <a:pPr marL="0" marR="0" lvl="0" indent="0" algn="ctr" defTabSz="914400" rtl="0" eaLnBrk="1" fontAlgn="auto" latinLnBrk="0" hangingPunct="1">
              <a:lnSpc>
                <a:spcPts val="4320"/>
              </a:lnSpc>
              <a:spcBef>
                <a:spcPts val="0"/>
              </a:spcBef>
              <a:spcAft>
                <a:spcPts val="0"/>
              </a:spcAft>
              <a:buClrTx/>
              <a:buSzTx/>
              <a:buFontTx/>
              <a:buNone/>
              <a:tabLst/>
              <a:defRPr/>
            </a:pPr>
            <a:r>
              <a:rPr kumimoji="0" lang="en-US" sz="3600" b="1" i="0" u="none" strike="noStrike" kern="0" cap="none" spc="-72" normalizeH="0" baseline="0" noProof="0" dirty="0">
                <a:ln>
                  <a:noFill/>
                </a:ln>
                <a:solidFill>
                  <a:srgbClr val="FFFFFF">
                    <a:alpha val="99000"/>
                  </a:srgbClr>
                </a:solidFill>
                <a:effectLst/>
                <a:uLnTx/>
                <a:uFillTx/>
                <a:latin typeface="Inter" pitchFamily="34" charset="0"/>
                <a:ea typeface="Inter" pitchFamily="34" charset="-122"/>
                <a:cs typeface="Inter" pitchFamily="34" charset="-120"/>
              </a:rPr>
              <a:t>Let’s talk about the course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714500" y="2786063"/>
            <a:ext cx="6172200" cy="238125"/>
          </a:xfrm>
          <a:prstGeom prst="rect">
            <a:avLst/>
          </a:prstGeom>
          <a:noFill/>
          <a:ln/>
        </p:spPr>
        <p:txBody>
          <a:bodyPr wrap="square" rtlCol="0" anchor="ctr"/>
          <a:lstStyle/>
          <a:p>
            <a:pPr marL="0" marR="0" lvl="0" indent="0" algn="ctr" defTabSz="914400" rtl="0" eaLnBrk="1" fontAlgn="auto" latinLnBrk="0" hangingPunct="1">
              <a:lnSpc>
                <a:spcPts val="1890"/>
              </a:lnSpc>
              <a:spcBef>
                <a:spcPts val="0"/>
              </a:spcBef>
              <a:spcAft>
                <a:spcPts val="0"/>
              </a:spcAft>
              <a:buClrTx/>
              <a:buSzTx/>
              <a:buFontTx/>
              <a:buNone/>
              <a:tabLst/>
              <a:defRPr/>
            </a:pPr>
            <a:r>
              <a:rPr kumimoji="0" lang="en-US" sz="1350" b="0" i="0" u="sng" strike="noStrike" kern="0" cap="none" spc="-13" normalizeH="0" baseline="0" noProof="0" dirty="0">
                <a:ln>
                  <a:noFill/>
                </a:ln>
                <a:solidFill>
                  <a:srgbClr val="FFFFFF">
                    <a:alpha val="99000"/>
                  </a:srgbClr>
                </a:solidFill>
                <a:effectLst/>
                <a:uLnTx/>
                <a:uFillTx/>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https://github.com/gamedevkfupm/swe402/</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C6FC016-50A2-2C76-BB6A-E3C7A82B2D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6325D12-4EB4-6092-7DE4-7D047949FA3E}"/>
              </a:ext>
            </a:extLst>
          </p:cNvPr>
          <p:cNvSpPr/>
          <p:nvPr/>
        </p:nvSpPr>
        <p:spPr>
          <a:xfrm>
            <a:off x="1714500" y="2124075"/>
            <a:ext cx="5715000" cy="900113"/>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AE48AD1D-2CD4-D7CC-EE09-8F2EB5215BC7}"/>
              </a:ext>
            </a:extLst>
          </p:cNvPr>
          <p:cNvSpPr txBox="1"/>
          <p:nvPr/>
        </p:nvSpPr>
        <p:spPr>
          <a:xfrm>
            <a:off x="2286000" y="4307764"/>
            <a:ext cx="4572000" cy="369332"/>
          </a:xfrm>
          <a:prstGeom prst="rect">
            <a:avLst/>
          </a:prstGeom>
          <a:noFill/>
        </p:spPr>
        <p:txBody>
          <a:bodyPr wrap="square">
            <a:spAutoFit/>
          </a:bodyPr>
          <a:lstStyle/>
          <a:p>
            <a:pPr algn="ctr"/>
            <a:r>
              <a:rPr lang="en-US" dirty="0">
                <a:solidFill>
                  <a:schemeClr val="bg1"/>
                </a:solidFill>
              </a:rPr>
              <a:t>https://</a:t>
            </a:r>
            <a:r>
              <a:rPr lang="en-US" dirty="0" err="1">
                <a:solidFill>
                  <a:schemeClr val="bg1"/>
                </a:solidFill>
              </a:rPr>
              <a:t>learn.unity.com</a:t>
            </a:r>
            <a:r>
              <a:rPr lang="en-US" dirty="0">
                <a:solidFill>
                  <a:schemeClr val="bg1"/>
                </a:solidFill>
              </a:rPr>
              <a:t>/pathways</a:t>
            </a:r>
          </a:p>
        </p:txBody>
      </p:sp>
      <p:pic>
        <p:nvPicPr>
          <p:cNvPr id="12" name="Picture 11">
            <a:extLst>
              <a:ext uri="{FF2B5EF4-FFF2-40B4-BE49-F238E27FC236}">
                <a16:creationId xmlns:a16="http://schemas.microsoft.com/office/drawing/2014/main" id="{B16D23DC-DA55-45FE-71F3-825AE37A28EF}"/>
              </a:ext>
            </a:extLst>
          </p:cNvPr>
          <p:cNvPicPr>
            <a:picLocks noChangeAspect="1"/>
          </p:cNvPicPr>
          <p:nvPr/>
        </p:nvPicPr>
        <p:blipFill>
          <a:blip r:embed="rId3"/>
          <a:stretch>
            <a:fillRect/>
          </a:stretch>
        </p:blipFill>
        <p:spPr>
          <a:xfrm>
            <a:off x="3007907" y="740691"/>
            <a:ext cx="3267847" cy="3267847"/>
          </a:xfrm>
          <a:prstGeom prst="rect">
            <a:avLst/>
          </a:prstGeom>
        </p:spPr>
      </p:pic>
      <p:pic>
        <p:nvPicPr>
          <p:cNvPr id="14" name="Picture 13">
            <a:extLst>
              <a:ext uri="{FF2B5EF4-FFF2-40B4-BE49-F238E27FC236}">
                <a16:creationId xmlns:a16="http://schemas.microsoft.com/office/drawing/2014/main" id="{3E132437-B73E-17AB-F354-2786E16CF7EA}"/>
              </a:ext>
            </a:extLst>
          </p:cNvPr>
          <p:cNvPicPr>
            <a:picLocks noChangeAspect="1"/>
          </p:cNvPicPr>
          <p:nvPr/>
        </p:nvPicPr>
        <p:blipFill>
          <a:blip r:embed="rId4"/>
          <a:stretch>
            <a:fillRect/>
          </a:stretch>
        </p:blipFill>
        <p:spPr>
          <a:xfrm>
            <a:off x="5795576" y="735169"/>
            <a:ext cx="3267847" cy="3267847"/>
          </a:xfrm>
          <a:prstGeom prst="rect">
            <a:avLst/>
          </a:prstGeom>
        </p:spPr>
      </p:pic>
      <p:pic>
        <p:nvPicPr>
          <p:cNvPr id="16" name="Picture 15">
            <a:extLst>
              <a:ext uri="{FF2B5EF4-FFF2-40B4-BE49-F238E27FC236}">
                <a16:creationId xmlns:a16="http://schemas.microsoft.com/office/drawing/2014/main" id="{25DF0BA0-2365-2357-8289-EE7C04A535FD}"/>
              </a:ext>
            </a:extLst>
          </p:cNvPr>
          <p:cNvPicPr>
            <a:picLocks noChangeAspect="1"/>
          </p:cNvPicPr>
          <p:nvPr/>
        </p:nvPicPr>
        <p:blipFill>
          <a:blip r:embed="rId5"/>
          <a:stretch>
            <a:fillRect/>
          </a:stretch>
        </p:blipFill>
        <p:spPr>
          <a:xfrm>
            <a:off x="312206" y="735169"/>
            <a:ext cx="3267847" cy="3267847"/>
          </a:xfrm>
          <a:prstGeom prst="rect">
            <a:avLst/>
          </a:prstGeom>
        </p:spPr>
      </p:pic>
    </p:spTree>
    <p:extLst>
      <p:ext uri="{BB962C8B-B14F-4D97-AF65-F5344CB8AC3E}">
        <p14:creationId xmlns:p14="http://schemas.microsoft.com/office/powerpoint/2010/main" val="4212748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81CC172-C35E-AFA9-4848-E9F31A7E0E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423264F-2763-6C2B-CE76-F7DA85DC6686}"/>
              </a:ext>
            </a:extLst>
          </p:cNvPr>
          <p:cNvSpPr/>
          <p:nvPr/>
        </p:nvSpPr>
        <p:spPr>
          <a:xfrm>
            <a:off x="609600" y="2400300"/>
            <a:ext cx="3600450" cy="342900"/>
          </a:xfrm>
          <a:prstGeom prst="rect">
            <a:avLst/>
          </a:prstGeom>
          <a:noFill/>
          <a:ln/>
        </p:spPr>
        <p:txBody>
          <a:bodyPr wrap="square" rtlCol="0" anchor="ctr"/>
          <a:lstStyle/>
          <a:p>
            <a:pPr marL="0" indent="0" algn="l">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Finaly guidelines </a:t>
            </a:r>
            <a:endParaRPr lang="en-US" sz="2250" dirty="0"/>
          </a:p>
        </p:txBody>
      </p:sp>
      <p:sp>
        <p:nvSpPr>
          <p:cNvPr id="4" name="Text 1">
            <a:extLst>
              <a:ext uri="{FF2B5EF4-FFF2-40B4-BE49-F238E27FC236}">
                <a16:creationId xmlns:a16="http://schemas.microsoft.com/office/drawing/2014/main" id="{302734EC-DE15-60F4-F9C3-A78C8FA1517E}"/>
              </a:ext>
            </a:extLst>
          </p:cNvPr>
          <p:cNvSpPr/>
          <p:nvPr/>
        </p:nvSpPr>
        <p:spPr>
          <a:xfrm>
            <a:off x="4610100" y="1857375"/>
            <a:ext cx="3695700" cy="1428750"/>
          </a:xfrm>
          <a:prstGeom prst="rect">
            <a:avLst/>
          </a:prstGeom>
          <a:noFill/>
          <a:ln/>
        </p:spPr>
        <p:txBody>
          <a:bodyPr wrap="square" rtlCol="0" anchor="ctr"/>
          <a:lstStyle/>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Active learning class</a:t>
            </a:r>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Bring laptops </a:t>
            </a:r>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Prepare before class </a:t>
            </a:r>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Shared learning environment </a:t>
            </a:r>
          </a:p>
          <a:p>
            <a:pPr marL="342900" indent="-342900" algn="l">
              <a:lnSpc>
                <a:spcPts val="1890"/>
              </a:lnSpc>
              <a:buSzPct val="100000"/>
              <a:buChar char="•"/>
            </a:pPr>
            <a:r>
              <a:rPr lang="en-US" sz="1350" kern="0" spc="-13" dirty="0">
                <a:solidFill>
                  <a:srgbClr val="FFFFFF">
                    <a:alpha val="99000"/>
                  </a:srgbClr>
                </a:solidFill>
                <a:latin typeface="Inter" pitchFamily="34" charset="0"/>
                <a:ea typeface="Inter" pitchFamily="34" charset="-122"/>
                <a:cs typeface="Inter" pitchFamily="34" charset="-120"/>
              </a:rPr>
              <a:t>Safe environment </a:t>
            </a:r>
          </a:p>
        </p:txBody>
      </p:sp>
    </p:spTree>
    <p:extLst>
      <p:ext uri="{BB962C8B-B14F-4D97-AF65-F5344CB8AC3E}">
        <p14:creationId xmlns:p14="http://schemas.microsoft.com/office/powerpoint/2010/main" val="1081680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a:effectLst/>
      </p:bgPr>
    </p:bg>
    <p:spTree>
      <p:nvGrpSpPr>
        <p:cNvPr id="1" name=""/>
        <p:cNvGrpSpPr/>
        <p:nvPr/>
      </p:nvGrpSpPr>
      <p:grpSpPr>
        <a:xfrm>
          <a:off x="0" y="0"/>
          <a:ext cx="0" cy="0"/>
          <a:chOff x="0" y="0"/>
          <a:chExt cx="0" cy="0"/>
        </a:xfrm>
      </p:grpSpPr>
      <p:pic>
        <p:nvPicPr>
          <p:cNvPr id="4" name="Image 1" descr="preencoded.png"/>
          <p:cNvPicPr>
            <a:picLocks noChangeAspect="1"/>
          </p:cNvPicPr>
          <p:nvPr/>
        </p:nvPicPr>
        <p:blipFill>
          <a:blip r:embed="rId3"/>
          <a:stretch>
            <a:fillRect/>
          </a:stretch>
        </p:blipFill>
        <p:spPr>
          <a:xfrm>
            <a:off x="6977063" y="445294"/>
            <a:ext cx="223288" cy="219075"/>
          </a:xfrm>
          <a:prstGeom prst="rect">
            <a:avLst/>
          </a:prstGeom>
        </p:spPr>
      </p:pic>
      <p:sp>
        <p:nvSpPr>
          <p:cNvPr id="5" name="Text 0"/>
          <p:cNvSpPr/>
          <p:nvPr/>
        </p:nvSpPr>
        <p:spPr>
          <a:xfrm>
            <a:off x="3271838" y="1943100"/>
            <a:ext cx="3057525" cy="628230"/>
          </a:xfrm>
          <a:prstGeom prst="rect">
            <a:avLst/>
          </a:prstGeom>
          <a:noFill/>
          <a:ln/>
        </p:spPr>
        <p:txBody>
          <a:bodyPr wrap="square" rtlCol="0" anchor="ctr"/>
          <a:lstStyle/>
          <a:p>
            <a:pPr marL="0" indent="0" algn="ctr">
              <a:lnSpc>
                <a:spcPts val="4955"/>
              </a:lnSpc>
              <a:buNone/>
            </a:pPr>
            <a:r>
              <a:rPr lang="en-US" sz="4129" b="1" kern="0" spc="-83" dirty="0">
                <a:solidFill>
                  <a:srgbClr val="FFFFFF">
                    <a:alpha val="99000"/>
                  </a:srgbClr>
                </a:solidFill>
                <a:latin typeface="Inter" pitchFamily="34" charset="0"/>
                <a:ea typeface="Inter" pitchFamily="34" charset="-122"/>
                <a:cs typeface="Inter" pitchFamily="34" charset="-120"/>
              </a:rPr>
              <a:t>Thank you</a:t>
            </a:r>
            <a:endParaRPr lang="en-US" sz="4129" dirty="0"/>
          </a:p>
        </p:txBody>
      </p:sp>
      <p:sp>
        <p:nvSpPr>
          <p:cNvPr id="6" name="Text 1"/>
          <p:cNvSpPr/>
          <p:nvPr/>
        </p:nvSpPr>
        <p:spPr>
          <a:xfrm>
            <a:off x="6910388" y="669131"/>
            <a:ext cx="2309813" cy="223838"/>
          </a:xfrm>
          <a:prstGeom prst="rect">
            <a:avLst/>
          </a:prstGeom>
          <a:noFill/>
          <a:ln/>
        </p:spPr>
        <p:txBody>
          <a:bodyPr wrap="square" rtlCol="0" anchor="ctr"/>
          <a:lstStyle/>
          <a:p>
            <a:pPr marL="0" indent="0" algn="l">
              <a:lnSpc>
                <a:spcPts val="1762"/>
              </a:lnSpc>
              <a:buNone/>
            </a:pPr>
            <a:r>
              <a:rPr lang="en-US" sz="1468" b="1" kern="0" spc="-29" dirty="0">
                <a:solidFill>
                  <a:srgbClr val="FFFFFF">
                    <a:alpha val="99000"/>
                  </a:srgbClr>
                </a:solidFill>
                <a:latin typeface="Inter" pitchFamily="34" charset="0"/>
                <a:ea typeface="Inter" pitchFamily="34" charset="-122"/>
                <a:cs typeface="Inter" pitchFamily="34" charset="-120"/>
              </a:rPr>
              <a:t>MS TEAMS GAME DEV </a:t>
            </a:r>
            <a:endParaRPr lang="en-US" sz="1468" dirty="0"/>
          </a:p>
        </p:txBody>
      </p:sp>
      <p:sp>
        <p:nvSpPr>
          <p:cNvPr id="7" name="Text 2"/>
          <p:cNvSpPr/>
          <p:nvPr/>
        </p:nvSpPr>
        <p:spPr>
          <a:xfrm>
            <a:off x="7267301" y="428625"/>
            <a:ext cx="1933575" cy="233362"/>
          </a:xfrm>
          <a:prstGeom prst="rect">
            <a:avLst/>
          </a:prstGeom>
          <a:noFill/>
          <a:ln/>
        </p:spPr>
        <p:txBody>
          <a:bodyPr wrap="square" rtlCol="0" anchor="ctr"/>
          <a:lstStyle/>
          <a:p>
            <a:pPr marL="0" indent="0" algn="l">
              <a:lnSpc>
                <a:spcPts val="1827"/>
              </a:lnSpc>
              <a:buNone/>
            </a:pPr>
            <a:r>
              <a:rPr lang="en-US" sz="1384" kern="0" spc="-28" dirty="0">
                <a:solidFill>
                  <a:srgbClr val="FFFFFF">
                    <a:alpha val="99000"/>
                  </a:srgbClr>
                </a:solidFill>
                <a:latin typeface="Inter" pitchFamily="34" charset="0"/>
                <a:ea typeface="Inter" pitchFamily="34" charset="-122"/>
                <a:cs typeface="Inter" pitchFamily="34" charset="-120"/>
              </a:rPr>
              <a:t>join the discussion</a:t>
            </a:r>
            <a:endParaRPr lang="en-US" sz="1384" dirty="0"/>
          </a:p>
        </p:txBody>
      </p:sp>
      <p:sp>
        <p:nvSpPr>
          <p:cNvPr id="8" name="Text 3"/>
          <p:cNvSpPr/>
          <p:nvPr/>
        </p:nvSpPr>
        <p:spPr>
          <a:xfrm>
            <a:off x="457200" y="428625"/>
            <a:ext cx="2733675" cy="476250"/>
          </a:xfrm>
          <a:prstGeom prst="rect">
            <a:avLst/>
          </a:prstGeom>
          <a:noFill/>
          <a:ln/>
        </p:spPr>
        <p:txBody>
          <a:bodyPr wrap="square" rtlCol="0" anchor="ctr"/>
          <a:lstStyle/>
          <a:p>
            <a:pPr marL="0" indent="0" algn="l">
              <a:lnSpc>
                <a:spcPts val="1890"/>
              </a:lnSpc>
              <a:buNone/>
            </a:pPr>
            <a:r>
              <a:rPr lang="en-US" sz="1350" kern="0" spc="-13" dirty="0">
                <a:solidFill>
                  <a:srgbClr val="FFFFFF">
                    <a:alpha val="99000"/>
                  </a:srgbClr>
                </a:solidFill>
                <a:latin typeface="Inter" pitchFamily="34" charset="0"/>
                <a:ea typeface="Inter" pitchFamily="34" charset="-122"/>
                <a:cs typeface="Inter" pitchFamily="34" charset="-120"/>
              </a:rPr>
              <a:t>Game Programming, KFUPM</a:t>
            </a:r>
            <a:endParaRPr lang="en-US" sz="1350" dirty="0"/>
          </a:p>
          <a:p>
            <a:pPr marL="0" indent="0" algn="l">
              <a:lnSpc>
                <a:spcPts val="1890"/>
              </a:lnSpc>
              <a:buNone/>
            </a:pPr>
            <a:r>
              <a:rPr lang="en-US" sz="1350" b="1" kern="0" spc="-13" dirty="0">
                <a:solidFill>
                  <a:srgbClr val="FFFFFF">
                    <a:alpha val="99000"/>
                  </a:srgbClr>
                </a:solidFill>
                <a:latin typeface="Inter" pitchFamily="34" charset="0"/>
                <a:ea typeface="Inter" pitchFamily="34" charset="-122"/>
                <a:cs typeface="Inter" pitchFamily="34" charset="-120"/>
              </a:rPr>
              <a:t>By Dr. Omar Hammad</a:t>
            </a:r>
            <a:endParaRPr lang="en-US" sz="1350" dirty="0"/>
          </a:p>
        </p:txBody>
      </p:sp>
      <p:pic>
        <p:nvPicPr>
          <p:cNvPr id="2" name="Picture 1">
            <a:extLst>
              <a:ext uri="{FF2B5EF4-FFF2-40B4-BE49-F238E27FC236}">
                <a16:creationId xmlns:a16="http://schemas.microsoft.com/office/drawing/2014/main" id="{3EA1E143-24B2-FB7A-9D1B-A08B8D5E6C03}"/>
              </a:ext>
            </a:extLst>
          </p:cNvPr>
          <p:cNvPicPr>
            <a:picLocks noChangeAspect="1"/>
          </p:cNvPicPr>
          <p:nvPr/>
        </p:nvPicPr>
        <p:blipFill>
          <a:blip r:embed="rId4"/>
          <a:stretch>
            <a:fillRect/>
          </a:stretch>
        </p:blipFill>
        <p:spPr>
          <a:xfrm>
            <a:off x="2439132" y="2671945"/>
            <a:ext cx="4265735" cy="4265735"/>
          </a:xfrm>
          <a:prstGeom prst="rect">
            <a:avLst/>
          </a:prstGeom>
        </p:spPr>
      </p:pic>
    </p:spTree>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Bjorn</Template>
  <TotalTime>161</TotalTime>
  <Words>1102</Words>
  <Application>Microsoft Macintosh PowerPoint</Application>
  <PresentationFormat>On-screen Show (16:9)</PresentationFormat>
  <Paragraphs>111</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Inter</vt:lpstr>
      <vt:lpstr>Neue Haas Grotesk Text Pro</vt:lpstr>
      <vt:lpstr>System Font Regular</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Omar Jamal Hammad</cp:lastModifiedBy>
  <cp:revision>6</cp:revision>
  <dcterms:created xsi:type="dcterms:W3CDTF">2026-01-18T10:11:31Z</dcterms:created>
  <dcterms:modified xsi:type="dcterms:W3CDTF">2026-08-19T08:35:31Z</dcterms:modified>
</cp:coreProperties>
</file>