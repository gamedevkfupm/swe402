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practices are not about being fancy. They’re about making change cheap. Games change constantly.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easy to read mean?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would you prefer to see this?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this?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this 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better solution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 small is also bad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function needs many comments, it’s probably doing too much.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easy to read mean?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player is null
Most runtime crashes in Unity are null reference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easy to read mean?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
Same behavior
Better performance
Instructor notes
Unity lookups are not free. Cache once, reuse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easy to read mean?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
Same behavior
Better performance
Instructor notes
Unity lookups are not free. Cache once, reuse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
Same behavior
Better performance
Instructor notes
Unity lookups are not free. Cache once, reuse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
Same behavior
Better performance
Instructor notes
Unity lookups are not free. Cache once, reuse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reduces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083594"/>
            <a:ext cx="3181350" cy="10953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083594"/>
            <a:ext cx="318135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Programming Best Practices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609600" y="4507706"/>
            <a:ext cx="64579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b="1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Omar Hammad, KFUPM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609600" y="514350"/>
            <a:ext cx="37433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 Programming, KFUPM </a:t>
            </a:r>
            <a:endParaRPr lang="en-US" sz="1283" dirty="0"/>
          </a:p>
        </p:txBody>
      </p:sp>
      <p:sp>
        <p:nvSpPr>
          <p:cNvPr id="6" name="Text 4"/>
          <p:cNvSpPr/>
          <p:nvPr/>
        </p:nvSpPr>
        <p:spPr>
          <a:xfrm>
            <a:off x="609600" y="752475"/>
            <a:ext cx="37433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SWE 402, Lecture 5</a:t>
            </a:r>
            <a:endParaRPr lang="en-US" sz="1283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52925" y="271463"/>
            <a:ext cx="4419600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52688" y="45339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simple mario Jump</a:t>
            </a:r>
            <a:endParaRPr lang="en-US" sz="128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81325" y="1104900"/>
            <a:ext cx="318135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code should be ..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609600" y="1452563"/>
            <a:ext cx="3690937" cy="1123950"/>
          </a:xfrm>
          <a:prstGeom prst="roundRect">
            <a:avLst>
              <a:gd name="adj" fmla="val 13017"/>
            </a:avLst>
          </a:prstGeom>
          <a:noFill/>
          <a:ln w="4524">
            <a:solidFill>
              <a:srgbClr val="4242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8200" y="1643063"/>
            <a:ext cx="326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read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838200" y="1990725"/>
            <a:ext cx="326231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Naming, Small Functions.. </a:t>
            </a:r>
            <a:endParaRPr lang="en-US" sz="1710" dirty="0"/>
          </a:p>
        </p:txBody>
      </p:sp>
      <p:sp>
        <p:nvSpPr>
          <p:cNvPr id="6" name="Shape 4"/>
          <p:cNvSpPr/>
          <p:nvPr/>
        </p:nvSpPr>
        <p:spPr>
          <a:xfrm>
            <a:off x="4643438" y="1452563"/>
            <a:ext cx="3690937" cy="1123950"/>
          </a:xfrm>
          <a:prstGeom prst="roundRect">
            <a:avLst>
              <a:gd name="adj" fmla="val 13017"/>
            </a:avLst>
          </a:prstGeom>
          <a:noFill/>
          <a:ln w="4524">
            <a:solidFill>
              <a:srgbClr val="4242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72038" y="1643063"/>
            <a:ext cx="326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Fault-tolerant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4872038" y="1990725"/>
            <a:ext cx="30432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Private, Defensive Checks..</a:t>
            </a:r>
            <a:endParaRPr lang="en-US" sz="1710" dirty="0"/>
          </a:p>
        </p:txBody>
      </p:sp>
      <p:sp>
        <p:nvSpPr>
          <p:cNvPr id="9" name="Shape 7"/>
          <p:cNvSpPr/>
          <p:nvPr/>
        </p:nvSpPr>
        <p:spPr>
          <a:xfrm>
            <a:off x="4643438" y="2738438"/>
            <a:ext cx="3690937" cy="1123950"/>
          </a:xfrm>
          <a:prstGeom prst="roundRect">
            <a:avLst>
              <a:gd name="adj" fmla="val 13017"/>
            </a:avLst>
          </a:prstGeom>
          <a:noFill/>
          <a:ln w="4524">
            <a:solidFill>
              <a:srgbClr val="4242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2038" y="2928938"/>
            <a:ext cx="326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Designer-friendly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4872038" y="3295650"/>
            <a:ext cx="32607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Expose variables, Attributes..</a:t>
            </a:r>
            <a:endParaRPr lang="en-US" sz="1710" dirty="0"/>
          </a:p>
        </p:txBody>
      </p:sp>
      <p:sp>
        <p:nvSpPr>
          <p:cNvPr id="12" name="Shape 10"/>
          <p:cNvSpPr/>
          <p:nvPr/>
        </p:nvSpPr>
        <p:spPr>
          <a:xfrm>
            <a:off x="600075" y="2738438"/>
            <a:ext cx="3700463" cy="1123950"/>
          </a:xfrm>
          <a:prstGeom prst="roundRect">
            <a:avLst>
              <a:gd name="adj" fmla="val 13017"/>
            </a:avLst>
          </a:prstGeom>
          <a:noFill/>
          <a:ln w="4524">
            <a:solidFill>
              <a:srgbClr val="4242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675" y="2928938"/>
            <a:ext cx="327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</a:t>
            </a:r>
            <a:endParaRPr lang="en-US" sz="1283" dirty="0"/>
          </a:p>
        </p:txBody>
      </p:sp>
      <p:sp>
        <p:nvSpPr>
          <p:cNvPr id="14" name="Text 12"/>
          <p:cNvSpPr/>
          <p:nvPr/>
        </p:nvSpPr>
        <p:spPr>
          <a:xfrm>
            <a:off x="828675" y="3295650"/>
            <a:ext cx="3270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Loop, Caching, Algorithms..</a:t>
            </a:r>
            <a:endParaRPr lang="en-US" sz="17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714500" y="2295525"/>
            <a:ext cx="5715000" cy="547688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1714500" y="2295525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read?</a:t>
            </a:r>
            <a:endParaRPr lang="en-US" sz="34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90788" y="2266950"/>
            <a:ext cx="4157663" cy="609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read &gt; Naming</a:t>
            </a:r>
            <a:endParaRPr lang="en-US" sz="128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62288" y="2133600"/>
            <a:ext cx="3167063" cy="10239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read &gt; Naming</a:t>
            </a:r>
            <a:endParaRPr lang="en-US" sz="12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read &gt; Small Functions</a:t>
            </a:r>
            <a:endParaRPr lang="en-US" sz="128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0350" y="1133475"/>
            <a:ext cx="3543300" cy="3290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read &gt; Small Functions</a:t>
            </a:r>
            <a:endParaRPr lang="en-US" sz="128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33763" y="1733550"/>
            <a:ext cx="2271713" cy="16716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read &gt; Small Functions</a:t>
            </a:r>
            <a:endParaRPr lang="en-US" sz="128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95688" y="1690688"/>
            <a:ext cx="1952625" cy="17573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read &gt; Small Functions</a:t>
            </a:r>
            <a:endParaRPr lang="en-US" sz="128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05125" y="1490663"/>
            <a:ext cx="3328988" cy="21621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714500" y="2021681"/>
            <a:ext cx="5715000" cy="1095375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1714500" y="2021681"/>
            <a:ext cx="57150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Rule </a:t>
            </a:r>
            <a:pPr algn="ctr" indent="0" marL="0">
              <a:lnSpc>
                <a:spcPts val="4104"/>
              </a:lnSpc>
              <a:buNone/>
            </a:pPr>
            <a:r>
              <a:rPr lang="en-US" sz="3420" i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function = one job.</a:t>
            </a:r>
            <a:endParaRPr lang="en-US" sz="34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714500" y="2295525"/>
            <a:ext cx="5715000" cy="547688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1714500" y="2295525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 tolerant?</a:t>
            </a:r>
            <a:endParaRPr lang="en-US" sz="34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 tolerant &gt; Null</a:t>
            </a:r>
            <a:endParaRPr lang="en-US" sz="1283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76478" y="2347913"/>
            <a:ext cx="5591054" cy="4429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100" y="4257675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 potential problem here?</a:t>
            </a:r>
            <a:endParaRPr lang="en-US" sz="17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 tolerant &gt; Null</a:t>
            </a:r>
            <a:endParaRPr lang="en-US" sz="128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76478" y="2347913"/>
            <a:ext cx="5591054" cy="4429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0100" y="4257675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 potential problem here?</a:t>
            </a:r>
            <a:endParaRPr lang="en-US" sz="171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36943" y="1269910"/>
            <a:ext cx="4670115" cy="2603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 tolerant &gt; Null</a:t>
            </a:r>
            <a:endParaRPr lang="en-US" sz="1283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57425" y="1800225"/>
            <a:ext cx="4629150" cy="1543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100" y="4257675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better solution..</a:t>
            </a:r>
            <a:endParaRPr lang="en-US" sz="17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 tolerant &gt; Private</a:t>
            </a:r>
            <a:endParaRPr lang="en-US" sz="1283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7963" y="1724025"/>
            <a:ext cx="3648075" cy="1695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 tolerant &gt; Private</a:t>
            </a:r>
            <a:endParaRPr lang="en-US" sz="1283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67539" y="1375941"/>
            <a:ext cx="4408922" cy="23916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 tolerant &gt; Private</a:t>
            </a:r>
            <a:endParaRPr lang="en-US" sz="1283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1238" y="1652588"/>
            <a:ext cx="4581525" cy="1840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100" y="4257675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better solution..</a:t>
            </a:r>
            <a:endParaRPr lang="en-US" sz="17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14500" y="1747838"/>
            <a:ext cx="5715000" cy="164306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1714500" y="1747838"/>
            <a:ext cx="5715000" cy="164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Rule </a:t>
            </a:r>
            <a:pPr algn="ctr" indent="0" marL="0">
              <a:lnSpc>
                <a:spcPts val="4104"/>
              </a:lnSpc>
              <a:buNone/>
            </a:pPr>
            <a:r>
              <a:rPr lang="en-US" sz="3420" i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variables private by default.</a:t>
            </a:r>
            <a:endParaRPr lang="en-US" sz="34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714500" y="2295525"/>
            <a:ext cx="5715000" cy="547688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1714500" y="2295525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Effecient code?</a:t>
            </a:r>
            <a:endParaRPr lang="en-US" sz="34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Code &gt; Game Loop</a:t>
            </a:r>
            <a:endParaRPr lang="en-US" sz="1283" dirty="0"/>
          </a:p>
        </p:txBody>
      </p:sp>
      <p:sp>
        <p:nvSpPr>
          <p:cNvPr id="3" name="Text 1"/>
          <p:cNvSpPr/>
          <p:nvPr/>
        </p:nvSpPr>
        <p:spPr>
          <a:xfrm>
            <a:off x="800100" y="4257675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 costly..</a:t>
            </a:r>
            <a:endParaRPr lang="en-US" sz="17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0600" y="1290638"/>
            <a:ext cx="3238500" cy="12573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0600" y="2443163"/>
            <a:ext cx="7162800" cy="144303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Code &gt; Game Loop</a:t>
            </a:r>
            <a:endParaRPr lang="en-US" sz="1283" dirty="0"/>
          </a:p>
        </p:txBody>
      </p:sp>
      <p:sp>
        <p:nvSpPr>
          <p:cNvPr id="3" name="Text 1"/>
          <p:cNvSpPr/>
          <p:nvPr/>
        </p:nvSpPr>
        <p:spPr>
          <a:xfrm>
            <a:off x="800100" y="4257675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Much better solution</a:t>
            </a:r>
            <a:endParaRPr lang="en-US" sz="17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86038" y="1228725"/>
            <a:ext cx="3971925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Code &gt; Cache References</a:t>
            </a:r>
            <a:endParaRPr lang="en-US" sz="1283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52675" y="2381250"/>
            <a:ext cx="44386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Code &gt; Cache References</a:t>
            </a:r>
            <a:endParaRPr lang="en-US" sz="128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81313" y="2147888"/>
            <a:ext cx="3381375" cy="8477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714500" y="2295525"/>
            <a:ext cx="5715000" cy="547688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1714500" y="2295525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Designer Friendly?</a:t>
            </a:r>
            <a:endParaRPr lang="en-US" sz="34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Designer-Friendly Code &gt; Expose Variables</a:t>
            </a:r>
            <a:endParaRPr lang="en-US" sz="128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90863" y="2238375"/>
            <a:ext cx="2962275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Designer-Friendly Code &gt; Expose Variables</a:t>
            </a:r>
            <a:endParaRPr lang="en-US" sz="128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24050" y="2333625"/>
            <a:ext cx="5295900" cy="476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0100" y="4257675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it in the inspector.</a:t>
            </a:r>
            <a:endParaRPr lang="en-US" sz="171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754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Designer-Friendly Code &gt; Expose Variables</a:t>
            </a:r>
            <a:endParaRPr lang="en-US" sz="1283" dirty="0"/>
          </a:p>
        </p:txBody>
      </p:sp>
      <p:sp>
        <p:nvSpPr>
          <p:cNvPr id="4" name="Text 1"/>
          <p:cNvSpPr/>
          <p:nvPr/>
        </p:nvSpPr>
        <p:spPr>
          <a:xfrm>
            <a:off x="800100" y="4257675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Much better..</a:t>
            </a:r>
            <a:endParaRPr lang="en-US" sz="171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2225" y="1957388"/>
            <a:ext cx="4019550" cy="11906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4438" y="1685925"/>
            <a:ext cx="6715125" cy="164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</a:t>
            </a:r>
            <a:endParaRPr lang="en-US" sz="3420" dirty="0"/>
          </a:p>
          <a:p>
            <a:pPr algn="ctr" indent="0" marL="0">
              <a:lnSpc>
                <a:spcPts val="4104"/>
              </a:lnSpc>
              <a:buNone/>
            </a:pPr>
            <a:r>
              <a:rPr lang="en-US" sz="3420" i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Designers can change behavior without touching code.</a:t>
            </a:r>
            <a:endParaRPr lang="en-US" sz="3420" dirty="0"/>
          </a:p>
        </p:txBody>
      </p:sp>
      <p:sp>
        <p:nvSpPr>
          <p:cNvPr id="4" name="Text 1"/>
          <p:cNvSpPr/>
          <p:nvPr/>
        </p:nvSpPr>
        <p:spPr>
          <a:xfrm>
            <a:off x="800100" y="4257675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Unless you want more</a:t>
            </a:r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meetings, Slack messages, and frustration.</a:t>
            </a:r>
            <a:endParaRPr lang="en-US" sz="171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003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short ..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610100" y="2095500"/>
            <a:ext cx="323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is for humans first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Designers are users too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Bugs are inevitable — crashes aren’t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is a design choice</a:t>
            </a:r>
            <a:endParaRPr lang="en-US" sz="1283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1838" y="1943100"/>
            <a:ext cx="2600325" cy="628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708"/>
              </a:lnSpc>
              <a:buNone/>
            </a:pPr>
            <a:r>
              <a:rPr lang="en-US" sz="3923" b="1" spc="-7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3923" dirty="0"/>
          </a:p>
        </p:txBody>
      </p:sp>
      <p:sp>
        <p:nvSpPr>
          <p:cNvPr id="3" name="Text 1"/>
          <p:cNvSpPr/>
          <p:nvPr/>
        </p:nvSpPr>
        <p:spPr>
          <a:xfrm>
            <a:off x="6910388" y="669131"/>
            <a:ext cx="1852612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395" b="1" spc="-2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discord.gg/jSyF3RJS</a:t>
            </a:r>
            <a:endParaRPr lang="en-US" sz="139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77063" y="445294"/>
            <a:ext cx="223289" cy="219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67296" y="428625"/>
            <a:ext cx="1476375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35"/>
              </a:lnSpc>
              <a:buNone/>
            </a:pPr>
            <a:r>
              <a:rPr lang="en-US" sz="1315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the discussion</a:t>
            </a:r>
            <a:endParaRPr lang="en-US" sz="1315" dirty="0"/>
          </a:p>
        </p:txBody>
      </p:sp>
      <p:sp>
        <p:nvSpPr>
          <p:cNvPr id="6" name="Text 3"/>
          <p:cNvSpPr/>
          <p:nvPr/>
        </p:nvSpPr>
        <p:spPr>
          <a:xfrm>
            <a:off x="457200" y="428625"/>
            <a:ext cx="22764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 Programming, KFUPM</a:t>
            </a:r>
            <a:endParaRPr lang="en-US" sz="1283" dirty="0"/>
          </a:p>
          <a:p>
            <a:pPr algn="l" indent="0" marL="0">
              <a:lnSpc>
                <a:spcPts val="1795"/>
              </a:lnSpc>
              <a:buNone/>
            </a:pPr>
            <a:r>
              <a:rPr lang="en-US" sz="1283" b="1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Dr. Omar Hammad</a:t>
            </a:r>
            <a:endParaRPr lang="en-US" sz="128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44181"/>
          <a:stretch/>
        </p:blipFill>
        <p:spPr>
          <a:xfrm>
            <a:off x="2419350" y="2676525"/>
            <a:ext cx="4419600" cy="24669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2026-02-18T08:15:36Z</dcterms:created>
  <dcterms:modified xsi:type="dcterms:W3CDTF">2026-02-18T08:15:36Z</dcterms:modified>
</cp:coreProperties>
</file>