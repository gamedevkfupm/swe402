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1" r:id="rId6"/>
    <p:sldId id="262"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11"/>
    <p:restoredTop sz="94610"/>
  </p:normalViewPr>
  <p:slideViewPr>
    <p:cSldViewPr snapToGrid="0" snapToObjects="1">
      <p:cViewPr varScale="1">
        <p:scale>
          <a:sx n="278" d="100"/>
          <a:sy n="278" d="100"/>
        </p:scale>
        <p:origin x="11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321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lecture I want students to: 
0) Get to know students
1) Understand the course learning outcomes 
2) know how to succeed in this course 
3) get up and running using unity 
4) get excited to take this course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gamedevkfupm/swe402/"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1095375" y="1981200"/>
            <a:ext cx="6948488" cy="900113"/>
          </a:xfrm>
          <a:prstGeom prst="rect">
            <a:avLst/>
          </a:prstGeom>
          <a:noFill/>
          <a:ln/>
        </p:spPr>
        <p:txBody>
          <a:bodyPr/>
          <a:lstStyle/>
          <a:p>
            <a:endParaRPr lang="en-US"/>
          </a:p>
        </p:txBody>
      </p:sp>
      <p:sp>
        <p:nvSpPr>
          <p:cNvPr id="4" name="Text 1"/>
          <p:cNvSpPr/>
          <p:nvPr/>
        </p:nvSpPr>
        <p:spPr>
          <a:xfrm>
            <a:off x="1343025" y="4533900"/>
            <a:ext cx="6915150" cy="238125"/>
          </a:xfrm>
          <a:prstGeom prst="rect">
            <a:avLst/>
          </a:prstGeom>
          <a:noFill/>
          <a:ln/>
        </p:spPr>
        <p:txBody>
          <a:bodyPr wrap="square" rtlCol="0" anchor="ctr"/>
          <a:lstStyle/>
          <a:p>
            <a:pPr marL="0" indent="0" algn="ctr">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Dr. Omar Hammad | Term 252</a:t>
            </a:r>
            <a:endParaRPr lang="en-US" sz="1350" dirty="0"/>
          </a:p>
        </p:txBody>
      </p:sp>
      <p:sp>
        <p:nvSpPr>
          <p:cNvPr id="5" name="Text 2"/>
          <p:cNvSpPr/>
          <p:nvPr/>
        </p:nvSpPr>
        <p:spPr>
          <a:xfrm>
            <a:off x="1095375" y="1981200"/>
            <a:ext cx="7405687" cy="547688"/>
          </a:xfrm>
          <a:prstGeom prst="rect">
            <a:avLst/>
          </a:prstGeom>
          <a:noFill/>
          <a:ln/>
        </p:spPr>
        <p:txBody>
          <a:bodyPr wrap="square" rtlCol="0" anchor="ctr"/>
          <a:lstStyle/>
          <a:p>
            <a:pPr marL="0" indent="0" algn="ctr">
              <a:lnSpc>
                <a:spcPts val="4320"/>
              </a:lnSpc>
              <a:buNone/>
            </a:pPr>
            <a:r>
              <a:rPr lang="en-US" sz="3600" b="1" kern="0" spc="-72" dirty="0">
                <a:solidFill>
                  <a:srgbClr val="FFFFFF">
                    <a:alpha val="99000"/>
                  </a:srgbClr>
                </a:solidFill>
                <a:latin typeface="Inter" pitchFamily="34" charset="0"/>
                <a:ea typeface="Inter" pitchFamily="34" charset="-122"/>
                <a:cs typeface="Inter" pitchFamily="34" charset="-120"/>
              </a:rPr>
              <a:t>Game Programming - SWE 402</a:t>
            </a:r>
            <a:endParaRPr lang="en-US" sz="3600" dirty="0"/>
          </a:p>
        </p:txBody>
      </p:sp>
      <p:sp>
        <p:nvSpPr>
          <p:cNvPr id="6" name="Text 3"/>
          <p:cNvSpPr/>
          <p:nvPr/>
        </p:nvSpPr>
        <p:spPr>
          <a:xfrm>
            <a:off x="1095375" y="2643188"/>
            <a:ext cx="7405687" cy="238125"/>
          </a:xfrm>
          <a:prstGeom prst="rect">
            <a:avLst/>
          </a:prstGeom>
          <a:noFill/>
          <a:ln/>
        </p:spPr>
        <p:txBody>
          <a:bodyPr wrap="square" rtlCol="0" anchor="ctr"/>
          <a:lstStyle/>
          <a:p>
            <a:pPr marL="0" indent="0" algn="ctr">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Lecture 1: Introduction to the course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09600" y="2400300"/>
            <a:ext cx="3600450" cy="342900"/>
          </a:xfrm>
          <a:prstGeom prst="rect">
            <a:avLst/>
          </a:prstGeom>
          <a:noFill/>
          <a:ln/>
        </p:spPr>
        <p:txBody>
          <a:bodyPr wrap="square" rtlCol="0" anchor="ctr"/>
          <a:lstStyle/>
          <a:p>
            <a:pPr marL="0" indent="0" algn="l">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In today’s lecture</a:t>
            </a:r>
            <a:endParaRPr lang="en-US" sz="2250" dirty="0"/>
          </a:p>
        </p:txBody>
      </p:sp>
      <p:sp>
        <p:nvSpPr>
          <p:cNvPr id="3" name="Text 1"/>
          <p:cNvSpPr/>
          <p:nvPr/>
        </p:nvSpPr>
        <p:spPr>
          <a:xfrm>
            <a:off x="4662488" y="1976438"/>
            <a:ext cx="3695700" cy="1190625"/>
          </a:xfrm>
          <a:prstGeom prst="rect">
            <a:avLst/>
          </a:prstGeom>
          <a:noFill/>
          <a:ln/>
        </p:spPr>
        <p:txBody>
          <a:bodyPr wrap="square" rtlCol="0" anchor="ctr"/>
          <a:lstStyle/>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Knowing each other</a:t>
            </a:r>
            <a:endParaRPr lang="en-US" sz="1350" dirty="0"/>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Course structure </a:t>
            </a:r>
            <a:endParaRPr lang="en-US" sz="1350" dirty="0"/>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Communication </a:t>
            </a:r>
            <a:endParaRPr lang="en-US" sz="1350" dirty="0"/>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Teaching method</a:t>
            </a:r>
            <a:endParaRPr lang="en-US" sz="1350" dirty="0"/>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How to succeed in this course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24075"/>
            <a:ext cx="5715000" cy="900113"/>
          </a:xfrm>
          <a:prstGeom prst="rect">
            <a:avLst/>
          </a:prstGeom>
          <a:noFill/>
          <a:ln/>
        </p:spPr>
        <p:txBody>
          <a:bodyPr/>
          <a:lstStyle/>
          <a:p>
            <a:endParaRPr lang="en-US"/>
          </a:p>
        </p:txBody>
      </p:sp>
      <p:sp>
        <p:nvSpPr>
          <p:cNvPr id="3" name="Text 1"/>
          <p:cNvSpPr/>
          <p:nvPr/>
        </p:nvSpPr>
        <p:spPr>
          <a:xfrm>
            <a:off x="1714500" y="2124075"/>
            <a:ext cx="6172200" cy="547688"/>
          </a:xfrm>
          <a:prstGeom prst="rect">
            <a:avLst/>
          </a:prstGeom>
          <a:noFill/>
          <a:ln/>
        </p:spPr>
        <p:txBody>
          <a:bodyPr wrap="square" rtlCol="0" anchor="ctr"/>
          <a:lstStyle/>
          <a:p>
            <a:pPr marL="0" indent="0" algn="ctr">
              <a:lnSpc>
                <a:spcPts val="4320"/>
              </a:lnSpc>
              <a:buNone/>
            </a:pPr>
            <a:r>
              <a:rPr lang="en-US" sz="3600" b="1" kern="0" spc="-72" dirty="0">
                <a:solidFill>
                  <a:srgbClr val="FFFFFF">
                    <a:alpha val="99000"/>
                  </a:srgbClr>
                </a:solidFill>
                <a:latin typeface="Inter" pitchFamily="34" charset="0"/>
                <a:ea typeface="Inter" pitchFamily="34" charset="-122"/>
                <a:cs typeface="Inter" pitchFamily="34" charset="-120"/>
              </a:rPr>
              <a:t>Let’s get to know you</a:t>
            </a:r>
            <a:endParaRPr lang="en-US" sz="3600" dirty="0"/>
          </a:p>
        </p:txBody>
      </p:sp>
      <p:sp>
        <p:nvSpPr>
          <p:cNvPr id="4" name="Text 2"/>
          <p:cNvSpPr/>
          <p:nvPr/>
        </p:nvSpPr>
        <p:spPr>
          <a:xfrm>
            <a:off x="1714500" y="2786063"/>
            <a:ext cx="6172200" cy="238125"/>
          </a:xfrm>
          <a:prstGeom prst="rect">
            <a:avLst/>
          </a:prstGeom>
          <a:noFill/>
          <a:ln/>
        </p:spPr>
        <p:txBody>
          <a:bodyPr wrap="square" rtlCol="0" anchor="ctr"/>
          <a:lstStyle/>
          <a:p>
            <a:pPr marL="0" indent="0" algn="ctr">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Name, Experience in Game Dev, Best Game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24075"/>
            <a:ext cx="5715000" cy="900113"/>
          </a:xfrm>
          <a:prstGeom prst="rect">
            <a:avLst/>
          </a:prstGeom>
          <a:noFill/>
          <a:ln/>
        </p:spPr>
        <p:txBody>
          <a:bodyPr/>
          <a:lstStyle/>
          <a:p>
            <a:endParaRPr lang="en-US"/>
          </a:p>
        </p:txBody>
      </p:sp>
      <p:sp>
        <p:nvSpPr>
          <p:cNvPr id="3" name="Text 1"/>
          <p:cNvSpPr/>
          <p:nvPr/>
        </p:nvSpPr>
        <p:spPr>
          <a:xfrm>
            <a:off x="1714500" y="2124075"/>
            <a:ext cx="6172200" cy="547688"/>
          </a:xfrm>
          <a:prstGeom prst="rect">
            <a:avLst/>
          </a:prstGeom>
          <a:noFill/>
          <a:ln/>
        </p:spPr>
        <p:txBody>
          <a:bodyPr wrap="square" rtlCol="0" anchor="ctr"/>
          <a:lstStyle/>
          <a:p>
            <a:pPr marL="0" indent="0" algn="ctr">
              <a:lnSpc>
                <a:spcPts val="4320"/>
              </a:lnSpc>
              <a:buNone/>
            </a:pPr>
            <a:r>
              <a:rPr lang="en-US" sz="3600" b="1" kern="0" spc="-72" dirty="0">
                <a:solidFill>
                  <a:srgbClr val="FFFFFF">
                    <a:alpha val="99000"/>
                  </a:srgbClr>
                </a:solidFill>
                <a:latin typeface="Inter" pitchFamily="34" charset="0"/>
                <a:ea typeface="Inter" pitchFamily="34" charset="-122"/>
                <a:cs typeface="Inter" pitchFamily="34" charset="-120"/>
              </a:rPr>
              <a:t>Let’s talk about the course</a:t>
            </a:r>
            <a:endParaRPr lang="en-US" sz="3600" dirty="0"/>
          </a:p>
        </p:txBody>
      </p:sp>
      <p:sp>
        <p:nvSpPr>
          <p:cNvPr id="4" name="Text 2"/>
          <p:cNvSpPr/>
          <p:nvPr/>
        </p:nvSpPr>
        <p:spPr>
          <a:xfrm>
            <a:off x="1714500" y="2786063"/>
            <a:ext cx="6172200" cy="238125"/>
          </a:xfrm>
          <a:prstGeom prst="rect">
            <a:avLst/>
          </a:prstGeom>
          <a:noFill/>
          <a:ln/>
        </p:spPr>
        <p:txBody>
          <a:bodyPr wrap="square" rtlCol="0" anchor="ctr"/>
          <a:lstStyle/>
          <a:p>
            <a:pPr marL="0" indent="0" algn="ctr">
              <a:lnSpc>
                <a:spcPts val="1890"/>
              </a:lnSpc>
              <a:buNone/>
            </a:pPr>
            <a:r>
              <a:rPr lang="en-US" sz="1350" u="sng" kern="0" spc="-13" dirty="0">
                <a:solidFill>
                  <a:srgbClr val="FFFFFF">
                    <a:alpha val="99000"/>
                  </a:srgbClr>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https://github.com/gamedevkfupm/swe402/</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610100" y="1562100"/>
            <a:ext cx="3238500" cy="914400"/>
          </a:xfrm>
          <a:prstGeom prst="rect">
            <a:avLst/>
          </a:prstGeom>
          <a:noFill/>
          <a:ln/>
        </p:spPr>
        <p:txBody>
          <a:bodyPr/>
          <a:lstStyle/>
          <a:p>
            <a:endParaRPr lang="en-US"/>
          </a:p>
        </p:txBody>
      </p:sp>
      <p:sp>
        <p:nvSpPr>
          <p:cNvPr id="3" name="Shape 1"/>
          <p:cNvSpPr/>
          <p:nvPr/>
        </p:nvSpPr>
        <p:spPr>
          <a:xfrm>
            <a:off x="4610100" y="2814638"/>
            <a:ext cx="3238500" cy="914400"/>
          </a:xfrm>
          <a:prstGeom prst="rect">
            <a:avLst/>
          </a:prstGeom>
          <a:noFill/>
          <a:ln/>
        </p:spPr>
        <p:txBody>
          <a:bodyPr/>
          <a:lstStyle/>
          <a:p>
            <a:endParaRPr lang="en-US"/>
          </a:p>
        </p:txBody>
      </p:sp>
      <p:sp>
        <p:nvSpPr>
          <p:cNvPr id="4" name="Text 2"/>
          <p:cNvSpPr/>
          <p:nvPr/>
        </p:nvSpPr>
        <p:spPr>
          <a:xfrm>
            <a:off x="609600" y="2433638"/>
            <a:ext cx="3124200"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How the course works?</a:t>
            </a:r>
            <a:endParaRPr lang="en-US" sz="1800" dirty="0"/>
          </a:p>
        </p:txBody>
      </p:sp>
      <p:sp>
        <p:nvSpPr>
          <p:cNvPr id="5" name="Text 3"/>
          <p:cNvSpPr/>
          <p:nvPr/>
        </p:nvSpPr>
        <p:spPr>
          <a:xfrm>
            <a:off x="4610100" y="2814638"/>
            <a:ext cx="3695700" cy="228600"/>
          </a:xfrm>
          <a:prstGeom prst="rect">
            <a:avLst/>
          </a:prstGeom>
          <a:noFill/>
          <a:ln/>
        </p:spPr>
        <p:txBody>
          <a:bodyPr wrap="square" rtlCol="0" anchor="ctr"/>
          <a:lstStyle/>
          <a:p>
            <a:pPr marL="0" indent="0" algn="l">
              <a:lnSpc>
                <a:spcPts val="1782"/>
              </a:lnSpc>
              <a:buNone/>
            </a:pPr>
            <a:r>
              <a:rPr lang="en-US" sz="1350" b="1" kern="0" spc="-27" dirty="0">
                <a:solidFill>
                  <a:srgbClr val="FFFFFF">
                    <a:alpha val="99000"/>
                  </a:srgbClr>
                </a:solidFill>
                <a:latin typeface="Inter" pitchFamily="34" charset="0"/>
                <a:ea typeface="Inter" pitchFamily="34" charset="-122"/>
                <a:cs typeface="Inter" pitchFamily="34" charset="-120"/>
              </a:rPr>
              <a:t>80%</a:t>
            </a:r>
            <a:endParaRPr lang="en-US" sz="1350" dirty="0"/>
          </a:p>
        </p:txBody>
      </p:sp>
      <p:sp>
        <p:nvSpPr>
          <p:cNvPr id="6" name="Text 4"/>
          <p:cNvSpPr/>
          <p:nvPr/>
        </p:nvSpPr>
        <p:spPr>
          <a:xfrm>
            <a:off x="4610100" y="3119438"/>
            <a:ext cx="3695700" cy="228600"/>
          </a:xfrm>
          <a:prstGeom prst="rect">
            <a:avLst/>
          </a:prstGeom>
          <a:noFill/>
          <a:ln/>
        </p:spPr>
        <p:txBody>
          <a:bodyPr wrap="square" rtlCol="0" anchor="ctr"/>
          <a:lstStyle/>
          <a:p>
            <a:pPr marL="0" indent="0" algn="l">
              <a:lnSpc>
                <a:spcPts val="1782"/>
              </a:lnSpc>
              <a:buNone/>
            </a:pPr>
            <a:r>
              <a:rPr lang="en-US" sz="1350" kern="0" spc="-27" dirty="0">
                <a:solidFill>
                  <a:srgbClr val="FFFFFF">
                    <a:alpha val="99000"/>
                  </a:srgbClr>
                </a:solidFill>
                <a:latin typeface="Inter" pitchFamily="34" charset="0"/>
                <a:ea typeface="Inter" pitchFamily="34" charset="-122"/>
                <a:cs typeface="Inter" pitchFamily="34" charset="-120"/>
              </a:rPr>
              <a:t>Practical (How) -- Unity</a:t>
            </a:r>
            <a:endParaRPr lang="en-US" sz="1350" dirty="0"/>
          </a:p>
        </p:txBody>
      </p:sp>
      <p:sp>
        <p:nvSpPr>
          <p:cNvPr id="7" name="Text 5"/>
          <p:cNvSpPr/>
          <p:nvPr/>
        </p:nvSpPr>
        <p:spPr>
          <a:xfrm>
            <a:off x="4610100" y="3424238"/>
            <a:ext cx="3695700" cy="304800"/>
          </a:xfrm>
          <a:prstGeom prst="rect">
            <a:avLst/>
          </a:prstGeom>
          <a:noFill/>
          <a:ln/>
        </p:spPr>
        <p:txBody>
          <a:bodyPr wrap="square" rtlCol="0" anchor="ctr"/>
          <a:lstStyle/>
          <a:p>
            <a:pPr marL="0" indent="0" algn="l">
              <a:lnSpc>
                <a:spcPts val="1206"/>
              </a:lnSpc>
              <a:buNone/>
            </a:pPr>
            <a:r>
              <a:rPr lang="en-US" sz="900" kern="0" spc="-5" dirty="0">
                <a:solidFill>
                  <a:srgbClr val="FFFFFF">
                    <a:alpha val="99000"/>
                  </a:srgbClr>
                </a:solidFill>
                <a:latin typeface="Inter" pitchFamily="34" charset="0"/>
                <a:ea typeface="Inter" pitchFamily="34" charset="-122"/>
                <a:cs typeface="Inter" pitchFamily="34" charset="-120"/>
              </a:rPr>
              <a:t>Editor, Scripting, Player control, UI, Animation, Cameras, Lightning, .. </a:t>
            </a:r>
            <a:endParaRPr lang="en-US" sz="900" dirty="0"/>
          </a:p>
        </p:txBody>
      </p:sp>
      <p:sp>
        <p:nvSpPr>
          <p:cNvPr id="8" name="Text 6"/>
          <p:cNvSpPr/>
          <p:nvPr/>
        </p:nvSpPr>
        <p:spPr>
          <a:xfrm>
            <a:off x="4610100" y="1562100"/>
            <a:ext cx="3695700" cy="228600"/>
          </a:xfrm>
          <a:prstGeom prst="rect">
            <a:avLst/>
          </a:prstGeom>
          <a:noFill/>
          <a:ln/>
        </p:spPr>
        <p:txBody>
          <a:bodyPr wrap="square" rtlCol="0" anchor="ctr"/>
          <a:lstStyle/>
          <a:p>
            <a:pPr marL="0" indent="0" algn="l">
              <a:lnSpc>
                <a:spcPts val="1782"/>
              </a:lnSpc>
              <a:buNone/>
            </a:pPr>
            <a:r>
              <a:rPr lang="en-US" sz="1350" b="1" kern="0" spc="-27" dirty="0">
                <a:solidFill>
                  <a:srgbClr val="FFFFFF">
                    <a:alpha val="99000"/>
                  </a:srgbClr>
                </a:solidFill>
                <a:latin typeface="Inter" pitchFamily="34" charset="0"/>
                <a:ea typeface="Inter" pitchFamily="34" charset="-122"/>
                <a:cs typeface="Inter" pitchFamily="34" charset="-120"/>
              </a:rPr>
              <a:t>20%</a:t>
            </a:r>
            <a:endParaRPr lang="en-US" sz="1350" dirty="0"/>
          </a:p>
        </p:txBody>
      </p:sp>
      <p:sp>
        <p:nvSpPr>
          <p:cNvPr id="9" name="Text 7"/>
          <p:cNvSpPr/>
          <p:nvPr/>
        </p:nvSpPr>
        <p:spPr>
          <a:xfrm>
            <a:off x="4610100" y="1866900"/>
            <a:ext cx="3695700" cy="228600"/>
          </a:xfrm>
          <a:prstGeom prst="rect">
            <a:avLst/>
          </a:prstGeom>
          <a:noFill/>
          <a:ln/>
        </p:spPr>
        <p:txBody>
          <a:bodyPr wrap="square" rtlCol="0" anchor="ctr"/>
          <a:lstStyle/>
          <a:p>
            <a:pPr marL="0" indent="0" algn="l">
              <a:lnSpc>
                <a:spcPts val="1782"/>
              </a:lnSpc>
              <a:buNone/>
            </a:pPr>
            <a:r>
              <a:rPr lang="en-US" sz="1350" kern="0" spc="-27" dirty="0">
                <a:solidFill>
                  <a:srgbClr val="FFFFFF">
                    <a:alpha val="99000"/>
                  </a:srgbClr>
                </a:solidFill>
                <a:latin typeface="Inter" pitchFamily="34" charset="0"/>
                <a:ea typeface="Inter" pitchFamily="34" charset="-122"/>
                <a:cs typeface="Inter" pitchFamily="34" charset="-120"/>
              </a:rPr>
              <a:t>Theoretical (What/Why)</a:t>
            </a:r>
            <a:endParaRPr lang="en-US" sz="1350" dirty="0"/>
          </a:p>
        </p:txBody>
      </p:sp>
      <p:sp>
        <p:nvSpPr>
          <p:cNvPr id="10" name="Text 8"/>
          <p:cNvSpPr/>
          <p:nvPr/>
        </p:nvSpPr>
        <p:spPr>
          <a:xfrm>
            <a:off x="4610100" y="2171700"/>
            <a:ext cx="3695700" cy="304800"/>
          </a:xfrm>
          <a:prstGeom prst="rect">
            <a:avLst/>
          </a:prstGeom>
          <a:noFill/>
          <a:ln/>
        </p:spPr>
        <p:txBody>
          <a:bodyPr wrap="square" rtlCol="0" anchor="ctr"/>
          <a:lstStyle/>
          <a:p>
            <a:pPr marL="0" indent="0" algn="l">
              <a:lnSpc>
                <a:spcPts val="1206"/>
              </a:lnSpc>
              <a:buNone/>
            </a:pPr>
            <a:r>
              <a:rPr lang="en-US" sz="900" kern="0" spc="-5" dirty="0">
                <a:solidFill>
                  <a:srgbClr val="FFFFFF">
                    <a:alpha val="99000"/>
                  </a:srgbClr>
                </a:solidFill>
                <a:latin typeface="Inter" pitchFamily="34" charset="0"/>
                <a:ea typeface="Inter" pitchFamily="34" charset="-122"/>
                <a:cs typeface="Inter" pitchFamily="34" charset="-120"/>
              </a:rPr>
              <a:t>History of Game Dev, Game Dev Principles, Engines, Graphics, Rendering, AI for Games, Production, ..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3" name="Shape 1"/>
          <p:cNvSpPr/>
          <p:nvPr/>
        </p:nvSpPr>
        <p:spPr>
          <a:xfrm>
            <a:off x="673608" y="1304925"/>
            <a:ext cx="2438400" cy="3228975"/>
          </a:xfrm>
          <a:prstGeom prst="roundRect">
            <a:avLst>
              <a:gd name="adj" fmla="val 6000"/>
            </a:avLst>
          </a:prstGeom>
          <a:solidFill>
            <a:srgbClr val="424242"/>
          </a:solidFill>
          <a:ln/>
        </p:spPr>
        <p:txBody>
          <a:bodyPr/>
          <a:lstStyle/>
          <a:p>
            <a:endParaRPr lang="en-US"/>
          </a:p>
        </p:txBody>
      </p:sp>
      <p:sp>
        <p:nvSpPr>
          <p:cNvPr id="4" name="Shape 2"/>
          <p:cNvSpPr/>
          <p:nvPr/>
        </p:nvSpPr>
        <p:spPr>
          <a:xfrm>
            <a:off x="3278124" y="1304925"/>
            <a:ext cx="5332476" cy="3228975"/>
          </a:xfrm>
          <a:prstGeom prst="roundRect">
            <a:avLst>
              <a:gd name="adj" fmla="val 6000"/>
            </a:avLst>
          </a:prstGeom>
          <a:solidFill>
            <a:srgbClr val="424242"/>
          </a:solidFill>
          <a:ln/>
        </p:spPr>
        <p:txBody>
          <a:bodyPr/>
          <a:lstStyle/>
          <a:p>
            <a:endParaRPr lang="en-US"/>
          </a:p>
        </p:txBody>
      </p:sp>
      <p:sp>
        <p:nvSpPr>
          <p:cNvPr id="5" name="Text 3"/>
          <p:cNvSpPr/>
          <p:nvPr/>
        </p:nvSpPr>
        <p:spPr>
          <a:xfrm>
            <a:off x="609600" y="609600"/>
            <a:ext cx="8001000"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Lecture structure</a:t>
            </a:r>
            <a:endParaRPr lang="en-US" sz="1800" dirty="0"/>
          </a:p>
        </p:txBody>
      </p:sp>
      <p:sp>
        <p:nvSpPr>
          <p:cNvPr id="6" name="Text 4"/>
          <p:cNvSpPr/>
          <p:nvPr/>
        </p:nvSpPr>
        <p:spPr>
          <a:xfrm>
            <a:off x="3596195" y="1595438"/>
            <a:ext cx="2465387" cy="228600"/>
          </a:xfrm>
          <a:prstGeom prst="rect">
            <a:avLst/>
          </a:prstGeom>
          <a:noFill/>
          <a:ln/>
        </p:spPr>
        <p:txBody>
          <a:bodyPr wrap="square" rtlCol="0" anchor="ctr"/>
          <a:lstStyle/>
          <a:p>
            <a:pPr marL="0" indent="0" algn="l">
              <a:lnSpc>
                <a:spcPts val="1782"/>
              </a:lnSpc>
              <a:buNone/>
            </a:pPr>
            <a:r>
              <a:rPr lang="en-US" sz="1350" kern="0" spc="-27" dirty="0">
                <a:solidFill>
                  <a:srgbClr val="FFFFFF">
                    <a:alpha val="99000"/>
                  </a:srgbClr>
                </a:solidFill>
                <a:latin typeface="Inter" pitchFamily="34" charset="0"/>
                <a:ea typeface="Inter" pitchFamily="34" charset="-122"/>
                <a:cs typeface="Inter" pitchFamily="34" charset="-120"/>
              </a:rPr>
              <a:t>~40m </a:t>
            </a:r>
            <a:endParaRPr lang="en-US" sz="1350" dirty="0"/>
          </a:p>
        </p:txBody>
      </p:sp>
      <p:sp>
        <p:nvSpPr>
          <p:cNvPr id="7" name="Text 5"/>
          <p:cNvSpPr/>
          <p:nvPr/>
        </p:nvSpPr>
        <p:spPr>
          <a:xfrm>
            <a:off x="3596195" y="3667125"/>
            <a:ext cx="2465387" cy="228600"/>
          </a:xfrm>
          <a:prstGeom prst="rect">
            <a:avLst/>
          </a:prstGeom>
          <a:noFill/>
          <a:ln/>
        </p:spPr>
        <p:txBody>
          <a:bodyPr wrap="square" rtlCol="0" anchor="ctr"/>
          <a:lstStyle/>
          <a:p>
            <a:pPr marL="0" indent="0" algn="l">
              <a:lnSpc>
                <a:spcPts val="1782"/>
              </a:lnSpc>
              <a:buNone/>
            </a:pPr>
            <a:r>
              <a:rPr lang="en-US" sz="1350" kern="0" spc="-27" dirty="0">
                <a:solidFill>
                  <a:srgbClr val="FFFFFF">
                    <a:alpha val="99000"/>
                  </a:srgbClr>
                </a:solidFill>
                <a:latin typeface="Inter" pitchFamily="34" charset="0"/>
                <a:ea typeface="Inter" pitchFamily="34" charset="-122"/>
                <a:cs typeface="Inter" pitchFamily="34" charset="-120"/>
              </a:rPr>
              <a:t>You:</a:t>
            </a:r>
            <a:endParaRPr lang="en-US" sz="1350" dirty="0"/>
          </a:p>
        </p:txBody>
      </p:sp>
      <p:sp>
        <p:nvSpPr>
          <p:cNvPr id="8" name="Text 6"/>
          <p:cNvSpPr/>
          <p:nvPr/>
        </p:nvSpPr>
        <p:spPr>
          <a:xfrm>
            <a:off x="3596195" y="1824038"/>
            <a:ext cx="2465387"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Hands-On</a:t>
            </a:r>
            <a:endParaRPr lang="en-US" sz="1800" dirty="0"/>
          </a:p>
        </p:txBody>
      </p:sp>
      <p:sp>
        <p:nvSpPr>
          <p:cNvPr id="9" name="Text 7"/>
          <p:cNvSpPr/>
          <p:nvPr/>
        </p:nvSpPr>
        <p:spPr>
          <a:xfrm>
            <a:off x="3596195" y="3895725"/>
            <a:ext cx="2465387"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Practice! </a:t>
            </a:r>
            <a:endParaRPr lang="en-US" sz="1800" dirty="0"/>
          </a:p>
        </p:txBody>
      </p:sp>
      <p:sp>
        <p:nvSpPr>
          <p:cNvPr id="10" name="Text 8"/>
          <p:cNvSpPr/>
          <p:nvPr/>
        </p:nvSpPr>
        <p:spPr>
          <a:xfrm>
            <a:off x="902208" y="1595438"/>
            <a:ext cx="2465387" cy="228600"/>
          </a:xfrm>
          <a:prstGeom prst="rect">
            <a:avLst/>
          </a:prstGeom>
          <a:noFill/>
          <a:ln/>
        </p:spPr>
        <p:txBody>
          <a:bodyPr wrap="square" rtlCol="0" anchor="ctr"/>
          <a:lstStyle/>
          <a:p>
            <a:pPr marL="0" indent="0" algn="l">
              <a:lnSpc>
                <a:spcPts val="1782"/>
              </a:lnSpc>
              <a:buNone/>
            </a:pPr>
            <a:r>
              <a:rPr lang="en-US" sz="1350" kern="0" spc="-27" dirty="0">
                <a:solidFill>
                  <a:srgbClr val="FFFFFF">
                    <a:alpha val="99000"/>
                  </a:srgbClr>
                </a:solidFill>
                <a:latin typeface="Inter" pitchFamily="34" charset="0"/>
                <a:ea typeface="Inter" pitchFamily="34" charset="-122"/>
                <a:cs typeface="Inter" pitchFamily="34" charset="-120"/>
              </a:rPr>
              <a:t>~20m </a:t>
            </a:r>
            <a:endParaRPr lang="en-US" sz="1350" dirty="0"/>
          </a:p>
        </p:txBody>
      </p:sp>
      <p:sp>
        <p:nvSpPr>
          <p:cNvPr id="11" name="Text 9"/>
          <p:cNvSpPr/>
          <p:nvPr/>
        </p:nvSpPr>
        <p:spPr>
          <a:xfrm>
            <a:off x="902208" y="3667125"/>
            <a:ext cx="2465387" cy="228600"/>
          </a:xfrm>
          <a:prstGeom prst="rect">
            <a:avLst/>
          </a:prstGeom>
          <a:noFill/>
          <a:ln/>
        </p:spPr>
        <p:txBody>
          <a:bodyPr wrap="square" rtlCol="0" anchor="ctr"/>
          <a:lstStyle/>
          <a:p>
            <a:pPr marL="0" indent="0" algn="l">
              <a:lnSpc>
                <a:spcPts val="1782"/>
              </a:lnSpc>
              <a:buNone/>
            </a:pPr>
            <a:r>
              <a:rPr lang="en-US" sz="1350" kern="0" spc="-27" dirty="0">
                <a:solidFill>
                  <a:srgbClr val="FFFFFF">
                    <a:alpha val="99000"/>
                  </a:srgbClr>
                </a:solidFill>
                <a:latin typeface="Inter" pitchFamily="34" charset="0"/>
                <a:ea typeface="Inter" pitchFamily="34" charset="-122"/>
                <a:cs typeface="Inter" pitchFamily="34" charset="-120"/>
              </a:rPr>
              <a:t>You:</a:t>
            </a:r>
            <a:endParaRPr lang="en-US" sz="1350" dirty="0"/>
          </a:p>
        </p:txBody>
      </p:sp>
      <p:sp>
        <p:nvSpPr>
          <p:cNvPr id="12" name="Text 10"/>
          <p:cNvSpPr/>
          <p:nvPr/>
        </p:nvSpPr>
        <p:spPr>
          <a:xfrm>
            <a:off x="902208" y="1824038"/>
            <a:ext cx="2465387"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Demo</a:t>
            </a:r>
            <a:endParaRPr lang="en-US" sz="1800" dirty="0"/>
          </a:p>
        </p:txBody>
      </p:sp>
      <p:sp>
        <p:nvSpPr>
          <p:cNvPr id="13" name="Text 11"/>
          <p:cNvSpPr/>
          <p:nvPr/>
        </p:nvSpPr>
        <p:spPr>
          <a:xfrm>
            <a:off x="902208" y="3895725"/>
            <a:ext cx="2465387"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Follow along</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24075"/>
            <a:ext cx="5715000" cy="900113"/>
          </a:xfrm>
          <a:prstGeom prst="rect">
            <a:avLst/>
          </a:prstGeom>
          <a:noFill/>
          <a:ln/>
        </p:spPr>
        <p:txBody>
          <a:bodyPr/>
          <a:lstStyle/>
          <a:p>
            <a:endParaRPr lang="en-US"/>
          </a:p>
        </p:txBody>
      </p:sp>
      <p:sp>
        <p:nvSpPr>
          <p:cNvPr id="3" name="Text 1"/>
          <p:cNvSpPr/>
          <p:nvPr/>
        </p:nvSpPr>
        <p:spPr>
          <a:xfrm>
            <a:off x="1714500" y="2124075"/>
            <a:ext cx="6172200" cy="547688"/>
          </a:xfrm>
          <a:prstGeom prst="rect">
            <a:avLst/>
          </a:prstGeom>
          <a:noFill/>
          <a:ln/>
        </p:spPr>
        <p:txBody>
          <a:bodyPr wrap="square" rtlCol="0" anchor="ctr"/>
          <a:lstStyle/>
          <a:p>
            <a:pPr marL="0" indent="0" algn="ctr">
              <a:lnSpc>
                <a:spcPts val="4320"/>
              </a:lnSpc>
              <a:buNone/>
            </a:pPr>
            <a:r>
              <a:rPr lang="en-US" sz="3600" b="1" kern="0" spc="-72" dirty="0">
                <a:solidFill>
                  <a:srgbClr val="FFFFFF">
                    <a:alpha val="99000"/>
                  </a:srgbClr>
                </a:solidFill>
                <a:latin typeface="Inter" pitchFamily="34" charset="0"/>
                <a:ea typeface="Inter" pitchFamily="34" charset="-122"/>
                <a:cs typeface="Inter" pitchFamily="34" charset="-120"/>
              </a:rPr>
              <a:t>Thank you</a:t>
            </a:r>
            <a:endParaRPr lang="en-US" sz="3600" dirty="0"/>
          </a:p>
        </p:txBody>
      </p:sp>
      <p:sp>
        <p:nvSpPr>
          <p:cNvPr id="4" name="Text 2"/>
          <p:cNvSpPr/>
          <p:nvPr/>
        </p:nvSpPr>
        <p:spPr>
          <a:xfrm>
            <a:off x="1714500" y="2786063"/>
            <a:ext cx="6172200" cy="238125"/>
          </a:xfrm>
          <a:prstGeom prst="rect">
            <a:avLst/>
          </a:prstGeom>
          <a:noFill/>
          <a:ln/>
        </p:spPr>
        <p:txBody>
          <a:bodyPr wrap="square" rtlCol="0" anchor="ctr"/>
          <a:lstStyle/>
          <a:p>
            <a:pPr marL="0" indent="0" algn="ctr">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Ask questions through MS Teams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214</Words>
  <Application>Microsoft Macintosh PowerPoint</Application>
  <PresentationFormat>On-screen Show (16:9)</PresentationFormat>
  <Paragraphs>39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Omar Jamal Hammad</cp:lastModifiedBy>
  <cp:revision>2</cp:revision>
  <dcterms:created xsi:type="dcterms:W3CDTF">2026-01-18T10:11:11Z</dcterms:created>
  <dcterms:modified xsi:type="dcterms:W3CDTF">2026-08-19T05:38:51Z</dcterms:modified>
</cp:coreProperties>
</file>