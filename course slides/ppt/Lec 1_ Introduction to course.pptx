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lecture I want students to: 
0) Get to know students
1) Understand the course learning outcomes 
2) know how to succeed in this course 
3) get up and running using unity 
4) get excited to take this course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discord for:
Knowledge sharing 
Discussions (activities/project) 
NOT for official communication (grades, issues,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github.com/gamedevkfupm/swe402/"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discord.gg/T8zN36C6" TargetMode="Externa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3" name="Shape 0"/>
          <p:cNvSpPr/>
          <p:nvPr/>
        </p:nvSpPr>
        <p:spPr>
          <a:xfrm>
            <a:off x="1095375" y="1981200"/>
            <a:ext cx="6948488" cy="900113"/>
          </a:xfrm>
          <a:prstGeom prst="rect">
            <a:avLst/>
          </a:prstGeom>
          <a:noFill/>
          <a:ln/>
        </p:spPr>
      </p:sp>
      <p:sp>
        <p:nvSpPr>
          <p:cNvPr id="4" name="Text 1"/>
          <p:cNvSpPr/>
          <p:nvPr/>
        </p:nvSpPr>
        <p:spPr>
          <a:xfrm>
            <a:off x="1343025" y="4533900"/>
            <a:ext cx="6915150" cy="238125"/>
          </a:xfrm>
          <a:prstGeom prst="rect">
            <a:avLst/>
          </a:prstGeom>
          <a:noFill/>
          <a:ln/>
        </p:spPr>
        <p:txBody>
          <a:bodyPr wrap="square" rtlCol="0" anchor="ctr"/>
          <a:lstStyle/>
          <a:p>
            <a:pPr algn="ctr" indent="0" marL="0">
              <a:lnSpc>
                <a:spcPts val="1890"/>
              </a:lnSpc>
              <a:buNone/>
            </a:pPr>
            <a:r>
              <a:rPr lang="en-US" sz="1350" spc="-13" kern="0" dirty="0">
                <a:solidFill>
                  <a:srgbClr val="FFFFFF">
                    <a:alpha val="99000"/>
                  </a:srgbClr>
                </a:solidFill>
                <a:latin typeface="Inter" pitchFamily="34" charset="0"/>
                <a:ea typeface="Inter" pitchFamily="34" charset="-122"/>
                <a:cs typeface="Inter" pitchFamily="34" charset="-120"/>
              </a:rPr>
              <a:t>Dr. Omar Hammad | Term 252</a:t>
            </a:r>
            <a:endParaRPr lang="en-US" sz="1350" dirty="0"/>
          </a:p>
        </p:txBody>
      </p:sp>
      <p:sp>
        <p:nvSpPr>
          <p:cNvPr id="5" name="Text 2"/>
          <p:cNvSpPr/>
          <p:nvPr/>
        </p:nvSpPr>
        <p:spPr>
          <a:xfrm>
            <a:off x="1095375" y="1981200"/>
            <a:ext cx="7405687" cy="547688"/>
          </a:xfrm>
          <a:prstGeom prst="rect">
            <a:avLst/>
          </a:prstGeom>
          <a:noFill/>
          <a:ln/>
        </p:spPr>
        <p:txBody>
          <a:bodyPr wrap="square" rtlCol="0" anchor="ctr"/>
          <a:lstStyle/>
          <a:p>
            <a:pPr algn="ctr" indent="0" marL="0">
              <a:lnSpc>
                <a:spcPts val="4320"/>
              </a:lnSpc>
              <a:buNone/>
            </a:pPr>
            <a:r>
              <a:rPr lang="en-US" sz="3600" b="1" spc="-72" kern="0" dirty="0">
                <a:solidFill>
                  <a:srgbClr val="FFFFFF">
                    <a:alpha val="99000"/>
                  </a:srgbClr>
                </a:solidFill>
                <a:latin typeface="Inter" pitchFamily="34" charset="0"/>
                <a:ea typeface="Inter" pitchFamily="34" charset="-122"/>
                <a:cs typeface="Inter" pitchFamily="34" charset="-120"/>
              </a:rPr>
              <a:t>Game Programming - SWE 402</a:t>
            </a:r>
            <a:endParaRPr lang="en-US" sz="3600" dirty="0"/>
          </a:p>
        </p:txBody>
      </p:sp>
      <p:sp>
        <p:nvSpPr>
          <p:cNvPr id="6" name="Text 3"/>
          <p:cNvSpPr/>
          <p:nvPr/>
        </p:nvSpPr>
        <p:spPr>
          <a:xfrm>
            <a:off x="1095375" y="2643188"/>
            <a:ext cx="7405687" cy="238125"/>
          </a:xfrm>
          <a:prstGeom prst="rect">
            <a:avLst/>
          </a:prstGeom>
          <a:noFill/>
          <a:ln/>
        </p:spPr>
        <p:txBody>
          <a:bodyPr wrap="square" rtlCol="0" anchor="ctr"/>
          <a:lstStyle/>
          <a:p>
            <a:pPr algn="ctr" indent="0" marL="0">
              <a:lnSpc>
                <a:spcPts val="1890"/>
              </a:lnSpc>
              <a:buNone/>
            </a:pPr>
            <a:r>
              <a:rPr lang="en-US" sz="1350" spc="-13" kern="0" dirty="0">
                <a:solidFill>
                  <a:srgbClr val="FFFFFF">
                    <a:alpha val="99000"/>
                  </a:srgbClr>
                </a:solidFill>
                <a:latin typeface="Inter" pitchFamily="34" charset="0"/>
                <a:ea typeface="Inter" pitchFamily="34" charset="-122"/>
                <a:cs typeface="Inter" pitchFamily="34" charset="-120"/>
              </a:rPr>
              <a:t>Lecture 1: Introduction to the course</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609600" y="2400300"/>
            <a:ext cx="3600450" cy="342900"/>
          </a:xfrm>
          <a:prstGeom prst="rect">
            <a:avLst/>
          </a:prstGeom>
          <a:noFill/>
          <a:ln/>
        </p:spPr>
        <p:txBody>
          <a:bodyPr wrap="square" rtlCol="0" anchor="ctr"/>
          <a:lstStyle/>
          <a:p>
            <a:pPr algn="l" indent="0" marL="0">
              <a:lnSpc>
                <a:spcPts val="2700"/>
              </a:lnSpc>
              <a:buNone/>
            </a:pPr>
            <a:r>
              <a:rPr lang="en-US" sz="2250" b="1" spc="-50" kern="0" dirty="0">
                <a:solidFill>
                  <a:srgbClr val="FFFFFF">
                    <a:alpha val="99000"/>
                  </a:srgbClr>
                </a:solidFill>
                <a:latin typeface="Inter" pitchFamily="34" charset="0"/>
                <a:ea typeface="Inter" pitchFamily="34" charset="-122"/>
                <a:cs typeface="Inter" pitchFamily="34" charset="-120"/>
              </a:rPr>
              <a:t>In today’s lecture</a:t>
            </a:r>
            <a:endParaRPr lang="en-US" sz="2250" dirty="0"/>
          </a:p>
        </p:txBody>
      </p:sp>
      <p:sp>
        <p:nvSpPr>
          <p:cNvPr id="3" name="Text 1"/>
          <p:cNvSpPr/>
          <p:nvPr/>
        </p:nvSpPr>
        <p:spPr>
          <a:xfrm>
            <a:off x="4662488" y="1976438"/>
            <a:ext cx="3695700" cy="1190625"/>
          </a:xfrm>
          <a:prstGeom prst="rect">
            <a:avLst/>
          </a:prstGeom>
          <a:noFill/>
          <a:ln/>
        </p:spPr>
        <p:txBody>
          <a:bodyPr wrap="square" rtlCol="0" anchor="ctr"/>
          <a:lstStyle/>
          <a:p>
            <a:pPr algn="l" marL="342900" indent="-342900">
              <a:lnSpc>
                <a:spcPts val="1890"/>
              </a:lnSpc>
              <a:buSzPct val="100000"/>
              <a:buChar char="•"/>
            </a:pPr>
            <a:r>
              <a:rPr lang="en-US" sz="1350" spc="-13" kern="0" dirty="0">
                <a:solidFill>
                  <a:srgbClr val="FFFFFF">
                    <a:alpha val="99000"/>
                  </a:srgbClr>
                </a:solidFill>
                <a:latin typeface="Inter" pitchFamily="34" charset="0"/>
                <a:ea typeface="Inter" pitchFamily="34" charset="-122"/>
                <a:cs typeface="Inter" pitchFamily="34" charset="-120"/>
              </a:rPr>
              <a:t>Knowing each other</a:t>
            </a:r>
            <a:endParaRPr lang="en-US" sz="1350" dirty="0"/>
          </a:p>
          <a:p>
            <a:pPr algn="l" marL="342900" indent="-342900">
              <a:lnSpc>
                <a:spcPts val="1890"/>
              </a:lnSpc>
              <a:buSzPct val="100000"/>
              <a:buChar char="•"/>
            </a:pPr>
            <a:r>
              <a:rPr lang="en-US" sz="1350" spc="-13" kern="0" dirty="0">
                <a:solidFill>
                  <a:srgbClr val="FFFFFF">
                    <a:alpha val="99000"/>
                  </a:srgbClr>
                </a:solidFill>
                <a:latin typeface="Inter" pitchFamily="34" charset="0"/>
                <a:ea typeface="Inter" pitchFamily="34" charset="-122"/>
                <a:cs typeface="Inter" pitchFamily="34" charset="-120"/>
              </a:rPr>
              <a:t>Course structure </a:t>
            </a:r>
            <a:endParaRPr lang="en-US" sz="1350" dirty="0"/>
          </a:p>
          <a:p>
            <a:pPr algn="l" marL="342900" indent="-342900">
              <a:lnSpc>
                <a:spcPts val="1890"/>
              </a:lnSpc>
              <a:buSzPct val="100000"/>
              <a:buChar char="•"/>
            </a:pPr>
            <a:r>
              <a:rPr lang="en-US" sz="1350" spc="-13" kern="0" dirty="0">
                <a:solidFill>
                  <a:srgbClr val="FFFFFF">
                    <a:alpha val="99000"/>
                  </a:srgbClr>
                </a:solidFill>
                <a:latin typeface="Inter" pitchFamily="34" charset="0"/>
                <a:ea typeface="Inter" pitchFamily="34" charset="-122"/>
                <a:cs typeface="Inter" pitchFamily="34" charset="-120"/>
              </a:rPr>
              <a:t>Communication </a:t>
            </a:r>
            <a:endParaRPr lang="en-US" sz="1350" dirty="0"/>
          </a:p>
          <a:p>
            <a:pPr algn="l" marL="342900" indent="-342900">
              <a:lnSpc>
                <a:spcPts val="1890"/>
              </a:lnSpc>
              <a:buSzPct val="100000"/>
              <a:buChar char="•"/>
            </a:pPr>
            <a:r>
              <a:rPr lang="en-US" sz="1350" spc="-13" kern="0" dirty="0">
                <a:solidFill>
                  <a:srgbClr val="FFFFFF">
                    <a:alpha val="99000"/>
                  </a:srgbClr>
                </a:solidFill>
                <a:latin typeface="Inter" pitchFamily="34" charset="0"/>
                <a:ea typeface="Inter" pitchFamily="34" charset="-122"/>
                <a:cs typeface="Inter" pitchFamily="34" charset="-120"/>
              </a:rPr>
              <a:t>Teaching method</a:t>
            </a:r>
            <a:endParaRPr lang="en-US" sz="1350" dirty="0"/>
          </a:p>
          <a:p>
            <a:pPr algn="l" marL="342900" indent="-342900">
              <a:lnSpc>
                <a:spcPts val="1890"/>
              </a:lnSpc>
              <a:buSzPct val="100000"/>
              <a:buChar char="•"/>
            </a:pPr>
            <a:r>
              <a:rPr lang="en-US" sz="1350" spc="-13" kern="0" dirty="0">
                <a:solidFill>
                  <a:srgbClr val="FFFFFF">
                    <a:alpha val="99000"/>
                  </a:srgbClr>
                </a:solidFill>
                <a:latin typeface="Inter" pitchFamily="34" charset="0"/>
                <a:ea typeface="Inter" pitchFamily="34" charset="-122"/>
                <a:cs typeface="Inter" pitchFamily="34" charset="-120"/>
              </a:rPr>
              <a:t>How to succeed in this course</a:t>
            </a:r>
            <a:endParaRPr lang="en-US" sz="13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1714500" y="2124075"/>
            <a:ext cx="5715000" cy="900113"/>
          </a:xfrm>
          <a:prstGeom prst="rect">
            <a:avLst/>
          </a:prstGeom>
          <a:noFill/>
          <a:ln/>
        </p:spPr>
      </p:sp>
      <p:sp>
        <p:nvSpPr>
          <p:cNvPr id="3" name="Text 1"/>
          <p:cNvSpPr/>
          <p:nvPr/>
        </p:nvSpPr>
        <p:spPr>
          <a:xfrm>
            <a:off x="1714500" y="2124075"/>
            <a:ext cx="6172200" cy="547688"/>
          </a:xfrm>
          <a:prstGeom prst="rect">
            <a:avLst/>
          </a:prstGeom>
          <a:noFill/>
          <a:ln/>
        </p:spPr>
        <p:txBody>
          <a:bodyPr wrap="square" rtlCol="0" anchor="ctr"/>
          <a:lstStyle/>
          <a:p>
            <a:pPr algn="ctr" indent="0" marL="0">
              <a:lnSpc>
                <a:spcPts val="4320"/>
              </a:lnSpc>
              <a:buNone/>
            </a:pPr>
            <a:r>
              <a:rPr lang="en-US" sz="3600" b="1" spc="-72" kern="0" dirty="0">
                <a:solidFill>
                  <a:srgbClr val="FFFFFF">
                    <a:alpha val="99000"/>
                  </a:srgbClr>
                </a:solidFill>
                <a:latin typeface="Inter" pitchFamily="34" charset="0"/>
                <a:ea typeface="Inter" pitchFamily="34" charset="-122"/>
                <a:cs typeface="Inter" pitchFamily="34" charset="-120"/>
              </a:rPr>
              <a:t>Let’s get to know you</a:t>
            </a:r>
            <a:endParaRPr lang="en-US" sz="3600" dirty="0"/>
          </a:p>
        </p:txBody>
      </p:sp>
      <p:sp>
        <p:nvSpPr>
          <p:cNvPr id="4" name="Text 2"/>
          <p:cNvSpPr/>
          <p:nvPr/>
        </p:nvSpPr>
        <p:spPr>
          <a:xfrm>
            <a:off x="1714500" y="2786063"/>
            <a:ext cx="6172200" cy="238125"/>
          </a:xfrm>
          <a:prstGeom prst="rect">
            <a:avLst/>
          </a:prstGeom>
          <a:noFill/>
          <a:ln/>
        </p:spPr>
        <p:txBody>
          <a:bodyPr wrap="square" rtlCol="0" anchor="ctr"/>
          <a:lstStyle/>
          <a:p>
            <a:pPr algn="ctr" indent="0" marL="0">
              <a:lnSpc>
                <a:spcPts val="1890"/>
              </a:lnSpc>
              <a:buNone/>
            </a:pPr>
            <a:r>
              <a:rPr lang="en-US" sz="1350" spc="-13" kern="0" dirty="0">
                <a:solidFill>
                  <a:srgbClr val="FFFFFF">
                    <a:alpha val="99000"/>
                  </a:srgbClr>
                </a:solidFill>
                <a:latin typeface="Inter" pitchFamily="34" charset="0"/>
                <a:ea typeface="Inter" pitchFamily="34" charset="-122"/>
                <a:cs typeface="Inter" pitchFamily="34" charset="-120"/>
              </a:rPr>
              <a:t>Name, Experience in Game Dev, Best Game</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1714500" y="2124075"/>
            <a:ext cx="5715000" cy="900113"/>
          </a:xfrm>
          <a:prstGeom prst="rect">
            <a:avLst/>
          </a:prstGeom>
          <a:noFill/>
          <a:ln/>
        </p:spPr>
      </p:sp>
      <p:sp>
        <p:nvSpPr>
          <p:cNvPr id="3" name="Text 1"/>
          <p:cNvSpPr/>
          <p:nvPr/>
        </p:nvSpPr>
        <p:spPr>
          <a:xfrm>
            <a:off x="1714500" y="2124075"/>
            <a:ext cx="6172200" cy="547688"/>
          </a:xfrm>
          <a:prstGeom prst="rect">
            <a:avLst/>
          </a:prstGeom>
          <a:noFill/>
          <a:ln/>
        </p:spPr>
        <p:txBody>
          <a:bodyPr wrap="square" rtlCol="0" anchor="ctr"/>
          <a:lstStyle/>
          <a:p>
            <a:pPr algn="ctr" indent="0" marL="0">
              <a:lnSpc>
                <a:spcPts val="4320"/>
              </a:lnSpc>
              <a:buNone/>
            </a:pPr>
            <a:r>
              <a:rPr lang="en-US" sz="3600" b="1" spc="-72" kern="0" dirty="0">
                <a:solidFill>
                  <a:srgbClr val="FFFFFF">
                    <a:alpha val="99000"/>
                  </a:srgbClr>
                </a:solidFill>
                <a:latin typeface="Inter" pitchFamily="34" charset="0"/>
                <a:ea typeface="Inter" pitchFamily="34" charset="-122"/>
                <a:cs typeface="Inter" pitchFamily="34" charset="-120"/>
              </a:rPr>
              <a:t>Let’s talk about the course</a:t>
            </a:r>
            <a:endParaRPr lang="en-US" sz="3600" dirty="0"/>
          </a:p>
        </p:txBody>
      </p:sp>
      <p:sp>
        <p:nvSpPr>
          <p:cNvPr id="4" name="Text 2"/>
          <p:cNvSpPr/>
          <p:nvPr/>
        </p:nvSpPr>
        <p:spPr>
          <a:xfrm>
            <a:off x="1714500" y="2786063"/>
            <a:ext cx="6172200" cy="238125"/>
          </a:xfrm>
          <a:prstGeom prst="rect">
            <a:avLst/>
          </a:prstGeom>
          <a:noFill/>
          <a:ln/>
        </p:spPr>
        <p:txBody>
          <a:bodyPr wrap="square" rtlCol="0" anchor="ctr"/>
          <a:lstStyle/>
          <a:p>
            <a:pPr algn="ctr" indent="0" marL="0">
              <a:lnSpc>
                <a:spcPts val="1890"/>
              </a:lnSpc>
              <a:buNone/>
            </a:pPr>
            <a:r>
              <a:rPr lang="en-US" sz="1350" u="sng" spc="-13" kern="0" dirty="0">
                <a:solidFill>
                  <a:srgbClr val="FFFFFF">
                    <a:alpha val="99000"/>
                  </a:srgbClr>
                </a:solidFill>
                <a:latin typeface="Inter" pitchFamily="34" charset="0"/>
                <a:ea typeface="Inter" pitchFamily="34" charset="-122"/>
                <a:cs typeface="Inter"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https://github.com/gamedevkfupm/swe402/</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1709738" y="609600"/>
            <a:ext cx="5719763" cy="2952750"/>
          </a:xfrm>
          <a:prstGeom prst="rect">
            <a:avLst/>
          </a:prstGeom>
        </p:spPr>
      </p:pic>
      <p:sp>
        <p:nvSpPr>
          <p:cNvPr id="4" name="Text 0"/>
          <p:cNvSpPr/>
          <p:nvPr/>
        </p:nvSpPr>
        <p:spPr>
          <a:xfrm>
            <a:off x="1333500" y="3986213"/>
            <a:ext cx="6934200" cy="547688"/>
          </a:xfrm>
          <a:prstGeom prst="rect">
            <a:avLst/>
          </a:prstGeom>
          <a:noFill/>
          <a:ln/>
        </p:spPr>
        <p:txBody>
          <a:bodyPr wrap="square" rtlCol="0" anchor="ctr"/>
          <a:lstStyle/>
          <a:p>
            <a:pPr algn="ctr" indent="0" marL="0">
              <a:lnSpc>
                <a:spcPts val="4320"/>
              </a:lnSpc>
              <a:buNone/>
            </a:pPr>
            <a:r>
              <a:rPr lang="en-US" sz="3600" b="1" u="sng" spc="-72" kern="0" dirty="0">
                <a:solidFill>
                  <a:srgbClr val="FFFFFF">
                    <a:alpha val="99000"/>
                  </a:srgbClr>
                </a:solidFill>
                <a:latin typeface="Inter" pitchFamily="34" charset="0"/>
                <a:ea typeface="Inter" pitchFamily="34" charset="-122"/>
                <a:cs typeface="Inter"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https://discord.gg/T8zN36C6</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4610100" y="1562100"/>
            <a:ext cx="3238500" cy="914400"/>
          </a:xfrm>
          <a:prstGeom prst="rect">
            <a:avLst/>
          </a:prstGeom>
          <a:noFill/>
          <a:ln/>
        </p:spPr>
      </p:sp>
      <p:sp>
        <p:nvSpPr>
          <p:cNvPr id="3" name="Shape 1"/>
          <p:cNvSpPr/>
          <p:nvPr/>
        </p:nvSpPr>
        <p:spPr>
          <a:xfrm>
            <a:off x="4610100" y="2814638"/>
            <a:ext cx="3238500" cy="914400"/>
          </a:xfrm>
          <a:prstGeom prst="rect">
            <a:avLst/>
          </a:prstGeom>
          <a:noFill/>
          <a:ln/>
        </p:spPr>
      </p:sp>
      <p:sp>
        <p:nvSpPr>
          <p:cNvPr id="4" name="Text 2"/>
          <p:cNvSpPr/>
          <p:nvPr/>
        </p:nvSpPr>
        <p:spPr>
          <a:xfrm>
            <a:off x="609600" y="2433638"/>
            <a:ext cx="3124200" cy="276225"/>
          </a:xfrm>
          <a:prstGeom prst="rect">
            <a:avLst/>
          </a:prstGeom>
          <a:noFill/>
          <a:ln/>
        </p:spPr>
        <p:txBody>
          <a:bodyPr wrap="square" rtlCol="0" anchor="ctr"/>
          <a:lstStyle/>
          <a:p>
            <a:pPr algn="l" indent="0" marL="0">
              <a:lnSpc>
                <a:spcPts val="2160"/>
              </a:lnSpc>
              <a:buNone/>
            </a:pPr>
            <a:r>
              <a:rPr lang="en-US" sz="1800" b="1" spc="-36" kern="0" dirty="0">
                <a:solidFill>
                  <a:srgbClr val="FFFFFF">
                    <a:alpha val="99000"/>
                  </a:srgbClr>
                </a:solidFill>
                <a:latin typeface="Inter" pitchFamily="34" charset="0"/>
                <a:ea typeface="Inter" pitchFamily="34" charset="-122"/>
                <a:cs typeface="Inter" pitchFamily="34" charset="-120"/>
              </a:rPr>
              <a:t>How the course works?</a:t>
            </a:r>
            <a:endParaRPr lang="en-US" sz="1800" dirty="0"/>
          </a:p>
        </p:txBody>
      </p:sp>
      <p:sp>
        <p:nvSpPr>
          <p:cNvPr id="5" name="Text 3"/>
          <p:cNvSpPr/>
          <p:nvPr/>
        </p:nvSpPr>
        <p:spPr>
          <a:xfrm>
            <a:off x="4610100" y="2814638"/>
            <a:ext cx="3695700" cy="228600"/>
          </a:xfrm>
          <a:prstGeom prst="rect">
            <a:avLst/>
          </a:prstGeom>
          <a:noFill/>
          <a:ln/>
        </p:spPr>
        <p:txBody>
          <a:bodyPr wrap="square" rtlCol="0" anchor="ctr"/>
          <a:lstStyle/>
          <a:p>
            <a:pPr algn="l" indent="0" marL="0">
              <a:lnSpc>
                <a:spcPts val="1782"/>
              </a:lnSpc>
              <a:buNone/>
            </a:pPr>
            <a:r>
              <a:rPr lang="en-US" sz="1350" b="1" spc="-27" kern="0" dirty="0">
                <a:solidFill>
                  <a:srgbClr val="FFFFFF">
                    <a:alpha val="99000"/>
                  </a:srgbClr>
                </a:solidFill>
                <a:latin typeface="Inter" pitchFamily="34" charset="0"/>
                <a:ea typeface="Inter" pitchFamily="34" charset="-122"/>
                <a:cs typeface="Inter" pitchFamily="34" charset="-120"/>
              </a:rPr>
              <a:t>80%</a:t>
            </a:r>
            <a:endParaRPr lang="en-US" sz="1350" dirty="0"/>
          </a:p>
        </p:txBody>
      </p:sp>
      <p:sp>
        <p:nvSpPr>
          <p:cNvPr id="6" name="Text 4"/>
          <p:cNvSpPr/>
          <p:nvPr/>
        </p:nvSpPr>
        <p:spPr>
          <a:xfrm>
            <a:off x="4610100" y="3119438"/>
            <a:ext cx="3695700" cy="228600"/>
          </a:xfrm>
          <a:prstGeom prst="rect">
            <a:avLst/>
          </a:prstGeom>
          <a:noFill/>
          <a:ln/>
        </p:spPr>
        <p:txBody>
          <a:bodyPr wrap="square" rtlCol="0" anchor="ctr"/>
          <a:lstStyle/>
          <a:p>
            <a:pPr algn="l" indent="0" marL="0">
              <a:lnSpc>
                <a:spcPts val="1782"/>
              </a:lnSpc>
              <a:buNone/>
            </a:pPr>
            <a:r>
              <a:rPr lang="en-US" sz="1350" spc="-27" kern="0" dirty="0">
                <a:solidFill>
                  <a:srgbClr val="FFFFFF">
                    <a:alpha val="99000"/>
                  </a:srgbClr>
                </a:solidFill>
                <a:latin typeface="Inter" pitchFamily="34" charset="0"/>
                <a:ea typeface="Inter" pitchFamily="34" charset="-122"/>
                <a:cs typeface="Inter" pitchFamily="34" charset="-120"/>
              </a:rPr>
              <a:t>Practical (How) -- Unity</a:t>
            </a:r>
            <a:endParaRPr lang="en-US" sz="1350" dirty="0"/>
          </a:p>
        </p:txBody>
      </p:sp>
      <p:sp>
        <p:nvSpPr>
          <p:cNvPr id="7" name="Text 5"/>
          <p:cNvSpPr/>
          <p:nvPr/>
        </p:nvSpPr>
        <p:spPr>
          <a:xfrm>
            <a:off x="4610100" y="3424238"/>
            <a:ext cx="3695700" cy="304800"/>
          </a:xfrm>
          <a:prstGeom prst="rect">
            <a:avLst/>
          </a:prstGeom>
          <a:noFill/>
          <a:ln/>
        </p:spPr>
        <p:txBody>
          <a:bodyPr wrap="square" rtlCol="0" anchor="ctr"/>
          <a:lstStyle/>
          <a:p>
            <a:pPr algn="l" indent="0" marL="0">
              <a:lnSpc>
                <a:spcPts val="1206"/>
              </a:lnSpc>
              <a:buNone/>
            </a:pPr>
            <a:r>
              <a:rPr lang="en-US" sz="900" spc="-5" kern="0" dirty="0">
                <a:solidFill>
                  <a:srgbClr val="FFFFFF">
                    <a:alpha val="99000"/>
                  </a:srgbClr>
                </a:solidFill>
                <a:latin typeface="Inter" pitchFamily="34" charset="0"/>
                <a:ea typeface="Inter" pitchFamily="34" charset="-122"/>
                <a:cs typeface="Inter" pitchFamily="34" charset="-120"/>
              </a:rPr>
              <a:t>Editor, Scripting, Player control, UI, Animation, Cameras, Lightning, .. </a:t>
            </a:r>
            <a:endParaRPr lang="en-US" sz="900" dirty="0"/>
          </a:p>
        </p:txBody>
      </p:sp>
      <p:sp>
        <p:nvSpPr>
          <p:cNvPr id="8" name="Text 6"/>
          <p:cNvSpPr/>
          <p:nvPr/>
        </p:nvSpPr>
        <p:spPr>
          <a:xfrm>
            <a:off x="4610100" y="1562100"/>
            <a:ext cx="3695700" cy="228600"/>
          </a:xfrm>
          <a:prstGeom prst="rect">
            <a:avLst/>
          </a:prstGeom>
          <a:noFill/>
          <a:ln/>
        </p:spPr>
        <p:txBody>
          <a:bodyPr wrap="square" rtlCol="0" anchor="ctr"/>
          <a:lstStyle/>
          <a:p>
            <a:pPr algn="l" indent="0" marL="0">
              <a:lnSpc>
                <a:spcPts val="1782"/>
              </a:lnSpc>
              <a:buNone/>
            </a:pPr>
            <a:r>
              <a:rPr lang="en-US" sz="1350" b="1" spc="-27" kern="0" dirty="0">
                <a:solidFill>
                  <a:srgbClr val="FFFFFF">
                    <a:alpha val="99000"/>
                  </a:srgbClr>
                </a:solidFill>
                <a:latin typeface="Inter" pitchFamily="34" charset="0"/>
                <a:ea typeface="Inter" pitchFamily="34" charset="-122"/>
                <a:cs typeface="Inter" pitchFamily="34" charset="-120"/>
              </a:rPr>
              <a:t>20%</a:t>
            </a:r>
            <a:endParaRPr lang="en-US" sz="1350" dirty="0"/>
          </a:p>
        </p:txBody>
      </p:sp>
      <p:sp>
        <p:nvSpPr>
          <p:cNvPr id="9" name="Text 7"/>
          <p:cNvSpPr/>
          <p:nvPr/>
        </p:nvSpPr>
        <p:spPr>
          <a:xfrm>
            <a:off x="4610100" y="1866900"/>
            <a:ext cx="3695700" cy="228600"/>
          </a:xfrm>
          <a:prstGeom prst="rect">
            <a:avLst/>
          </a:prstGeom>
          <a:noFill/>
          <a:ln/>
        </p:spPr>
        <p:txBody>
          <a:bodyPr wrap="square" rtlCol="0" anchor="ctr"/>
          <a:lstStyle/>
          <a:p>
            <a:pPr algn="l" indent="0" marL="0">
              <a:lnSpc>
                <a:spcPts val="1782"/>
              </a:lnSpc>
              <a:buNone/>
            </a:pPr>
            <a:r>
              <a:rPr lang="en-US" sz="1350" spc="-27" kern="0" dirty="0">
                <a:solidFill>
                  <a:srgbClr val="FFFFFF">
                    <a:alpha val="99000"/>
                  </a:srgbClr>
                </a:solidFill>
                <a:latin typeface="Inter" pitchFamily="34" charset="0"/>
                <a:ea typeface="Inter" pitchFamily="34" charset="-122"/>
                <a:cs typeface="Inter" pitchFamily="34" charset="-120"/>
              </a:rPr>
              <a:t>Theoretical (What/Why)</a:t>
            </a:r>
            <a:endParaRPr lang="en-US" sz="1350" dirty="0"/>
          </a:p>
        </p:txBody>
      </p:sp>
      <p:sp>
        <p:nvSpPr>
          <p:cNvPr id="10" name="Text 8"/>
          <p:cNvSpPr/>
          <p:nvPr/>
        </p:nvSpPr>
        <p:spPr>
          <a:xfrm>
            <a:off x="4610100" y="2171700"/>
            <a:ext cx="3695700" cy="304800"/>
          </a:xfrm>
          <a:prstGeom prst="rect">
            <a:avLst/>
          </a:prstGeom>
          <a:noFill/>
          <a:ln/>
        </p:spPr>
        <p:txBody>
          <a:bodyPr wrap="square" rtlCol="0" anchor="ctr"/>
          <a:lstStyle/>
          <a:p>
            <a:pPr algn="l" indent="0" marL="0">
              <a:lnSpc>
                <a:spcPts val="1206"/>
              </a:lnSpc>
              <a:buNone/>
            </a:pPr>
            <a:r>
              <a:rPr lang="en-US" sz="900" spc="-5" kern="0" dirty="0">
                <a:solidFill>
                  <a:srgbClr val="FFFFFF">
                    <a:alpha val="99000"/>
                  </a:srgbClr>
                </a:solidFill>
                <a:latin typeface="Inter" pitchFamily="34" charset="0"/>
                <a:ea typeface="Inter" pitchFamily="34" charset="-122"/>
                <a:cs typeface="Inter" pitchFamily="34" charset="-120"/>
              </a:rPr>
              <a:t>History of Game Dev, Game Dev Principles, Engines, Graphics, Rendering, AI for Games, Production, .. </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609600" y="1309688"/>
            <a:ext cx="2438400" cy="3228975"/>
          </a:xfrm>
          <a:prstGeom prst="roundRect">
            <a:avLst>
              <a:gd name="adj" fmla="val 6000"/>
            </a:avLst>
          </a:prstGeom>
          <a:solidFill>
            <a:srgbClr val="424242"/>
          </a:solidFill>
          <a:ln/>
        </p:spPr>
      </p:sp>
      <p:sp>
        <p:nvSpPr>
          <p:cNvPr id="3" name="Shape 1"/>
          <p:cNvSpPr/>
          <p:nvPr/>
        </p:nvSpPr>
        <p:spPr>
          <a:xfrm>
            <a:off x="3352800" y="1304925"/>
            <a:ext cx="2438400" cy="3228975"/>
          </a:xfrm>
          <a:prstGeom prst="roundRect">
            <a:avLst>
              <a:gd name="adj" fmla="val 6000"/>
            </a:avLst>
          </a:prstGeom>
          <a:solidFill>
            <a:srgbClr val="424242"/>
          </a:solidFill>
          <a:ln/>
        </p:spPr>
      </p:sp>
      <p:sp>
        <p:nvSpPr>
          <p:cNvPr id="4" name="Shape 2"/>
          <p:cNvSpPr/>
          <p:nvPr/>
        </p:nvSpPr>
        <p:spPr>
          <a:xfrm>
            <a:off x="6096000" y="1304925"/>
            <a:ext cx="2438400" cy="3228975"/>
          </a:xfrm>
          <a:prstGeom prst="roundRect">
            <a:avLst>
              <a:gd name="adj" fmla="val 6000"/>
            </a:avLst>
          </a:prstGeom>
          <a:solidFill>
            <a:srgbClr val="424242"/>
          </a:solidFill>
          <a:ln/>
        </p:spPr>
      </p:sp>
      <p:sp>
        <p:nvSpPr>
          <p:cNvPr id="5" name="Text 3"/>
          <p:cNvSpPr/>
          <p:nvPr/>
        </p:nvSpPr>
        <p:spPr>
          <a:xfrm>
            <a:off x="609600" y="609600"/>
            <a:ext cx="8001000" cy="276225"/>
          </a:xfrm>
          <a:prstGeom prst="rect">
            <a:avLst/>
          </a:prstGeom>
          <a:noFill/>
          <a:ln/>
        </p:spPr>
        <p:txBody>
          <a:bodyPr wrap="square" rtlCol="0" anchor="ctr"/>
          <a:lstStyle/>
          <a:p>
            <a:pPr algn="l" indent="0" marL="0">
              <a:lnSpc>
                <a:spcPts val="2160"/>
              </a:lnSpc>
              <a:buNone/>
            </a:pPr>
            <a:r>
              <a:rPr lang="en-US" sz="1800" b="1" spc="-36" kern="0" dirty="0">
                <a:solidFill>
                  <a:srgbClr val="FFFFFF">
                    <a:alpha val="99000"/>
                  </a:srgbClr>
                </a:solidFill>
                <a:latin typeface="Inter" pitchFamily="34" charset="0"/>
                <a:ea typeface="Inter" pitchFamily="34" charset="-122"/>
                <a:cs typeface="Inter" pitchFamily="34" charset="-120"/>
              </a:rPr>
              <a:t>Lecture structure</a:t>
            </a:r>
            <a:endParaRPr lang="en-US" sz="1800" dirty="0"/>
          </a:p>
        </p:txBody>
      </p:sp>
      <p:sp>
        <p:nvSpPr>
          <p:cNvPr id="6" name="Text 4"/>
          <p:cNvSpPr/>
          <p:nvPr/>
        </p:nvSpPr>
        <p:spPr>
          <a:xfrm>
            <a:off x="6324600" y="1595438"/>
            <a:ext cx="2465387" cy="228600"/>
          </a:xfrm>
          <a:prstGeom prst="rect">
            <a:avLst/>
          </a:prstGeom>
          <a:noFill/>
          <a:ln/>
        </p:spPr>
        <p:txBody>
          <a:bodyPr wrap="square" rtlCol="0" anchor="ctr"/>
          <a:lstStyle/>
          <a:p>
            <a:pPr algn="l" indent="0" marL="0">
              <a:lnSpc>
                <a:spcPts val="1782"/>
              </a:lnSpc>
              <a:buNone/>
            </a:pPr>
            <a:r>
              <a:rPr lang="en-US" sz="1350" spc="-27" kern="0" dirty="0">
                <a:solidFill>
                  <a:srgbClr val="FFFFFF">
                    <a:alpha val="99000"/>
                  </a:srgbClr>
                </a:solidFill>
                <a:latin typeface="Inter" pitchFamily="34" charset="0"/>
                <a:ea typeface="Inter" pitchFamily="34" charset="-122"/>
                <a:cs typeface="Inter" pitchFamily="34" charset="-120"/>
              </a:rPr>
              <a:t>~40m </a:t>
            </a:r>
            <a:endParaRPr lang="en-US" sz="1350" dirty="0"/>
          </a:p>
        </p:txBody>
      </p:sp>
      <p:sp>
        <p:nvSpPr>
          <p:cNvPr id="7" name="Text 5"/>
          <p:cNvSpPr/>
          <p:nvPr/>
        </p:nvSpPr>
        <p:spPr>
          <a:xfrm>
            <a:off x="6324600" y="3667125"/>
            <a:ext cx="2465387" cy="228600"/>
          </a:xfrm>
          <a:prstGeom prst="rect">
            <a:avLst/>
          </a:prstGeom>
          <a:noFill/>
          <a:ln/>
        </p:spPr>
        <p:txBody>
          <a:bodyPr wrap="square" rtlCol="0" anchor="ctr"/>
          <a:lstStyle/>
          <a:p>
            <a:pPr algn="l" indent="0" marL="0">
              <a:lnSpc>
                <a:spcPts val="1782"/>
              </a:lnSpc>
              <a:buNone/>
            </a:pPr>
            <a:r>
              <a:rPr lang="en-US" sz="1350" spc="-27" kern="0" dirty="0">
                <a:solidFill>
                  <a:srgbClr val="FFFFFF">
                    <a:alpha val="99000"/>
                  </a:srgbClr>
                </a:solidFill>
                <a:latin typeface="Inter" pitchFamily="34" charset="0"/>
                <a:ea typeface="Inter" pitchFamily="34" charset="-122"/>
                <a:cs typeface="Inter" pitchFamily="34" charset="-120"/>
              </a:rPr>
              <a:t>You:</a:t>
            </a:r>
            <a:endParaRPr lang="en-US" sz="1350" dirty="0"/>
          </a:p>
        </p:txBody>
      </p:sp>
      <p:sp>
        <p:nvSpPr>
          <p:cNvPr id="8" name="Text 6"/>
          <p:cNvSpPr/>
          <p:nvPr/>
        </p:nvSpPr>
        <p:spPr>
          <a:xfrm>
            <a:off x="6324600" y="1824038"/>
            <a:ext cx="2465387" cy="276225"/>
          </a:xfrm>
          <a:prstGeom prst="rect">
            <a:avLst/>
          </a:prstGeom>
          <a:noFill/>
          <a:ln/>
        </p:spPr>
        <p:txBody>
          <a:bodyPr wrap="square" rtlCol="0" anchor="ctr"/>
          <a:lstStyle/>
          <a:p>
            <a:pPr algn="l" indent="0" marL="0">
              <a:lnSpc>
                <a:spcPts val="2160"/>
              </a:lnSpc>
              <a:buNone/>
            </a:pPr>
            <a:r>
              <a:rPr lang="en-US" sz="1800" b="1" spc="-36" kern="0" dirty="0">
                <a:solidFill>
                  <a:srgbClr val="FFFFFF">
                    <a:alpha val="99000"/>
                  </a:srgbClr>
                </a:solidFill>
                <a:latin typeface="Inter" pitchFamily="34" charset="0"/>
                <a:ea typeface="Inter" pitchFamily="34" charset="-122"/>
                <a:cs typeface="Inter" pitchFamily="34" charset="-120"/>
              </a:rPr>
              <a:t>Hands-On</a:t>
            </a:r>
            <a:endParaRPr lang="en-US" sz="1800" dirty="0"/>
          </a:p>
        </p:txBody>
      </p:sp>
      <p:sp>
        <p:nvSpPr>
          <p:cNvPr id="9" name="Text 7"/>
          <p:cNvSpPr/>
          <p:nvPr/>
        </p:nvSpPr>
        <p:spPr>
          <a:xfrm>
            <a:off x="6324600" y="3895725"/>
            <a:ext cx="2465387" cy="276225"/>
          </a:xfrm>
          <a:prstGeom prst="rect">
            <a:avLst/>
          </a:prstGeom>
          <a:noFill/>
          <a:ln/>
        </p:spPr>
        <p:txBody>
          <a:bodyPr wrap="square" rtlCol="0" anchor="ctr"/>
          <a:lstStyle/>
          <a:p>
            <a:pPr algn="l" indent="0" marL="0">
              <a:lnSpc>
                <a:spcPts val="2160"/>
              </a:lnSpc>
              <a:buNone/>
            </a:pPr>
            <a:r>
              <a:rPr lang="en-US" sz="1800" b="1" spc="-36" kern="0" dirty="0">
                <a:solidFill>
                  <a:srgbClr val="FFFFFF">
                    <a:alpha val="99000"/>
                  </a:srgbClr>
                </a:solidFill>
                <a:latin typeface="Inter" pitchFamily="34" charset="0"/>
                <a:ea typeface="Inter" pitchFamily="34" charset="-122"/>
                <a:cs typeface="Inter" pitchFamily="34" charset="-120"/>
              </a:rPr>
              <a:t>Practice! </a:t>
            </a:r>
            <a:endParaRPr lang="en-US" sz="1800" dirty="0"/>
          </a:p>
        </p:txBody>
      </p:sp>
      <p:sp>
        <p:nvSpPr>
          <p:cNvPr id="10" name="Text 8"/>
          <p:cNvSpPr/>
          <p:nvPr/>
        </p:nvSpPr>
        <p:spPr>
          <a:xfrm>
            <a:off x="3581400" y="1595438"/>
            <a:ext cx="2465387" cy="228600"/>
          </a:xfrm>
          <a:prstGeom prst="rect">
            <a:avLst/>
          </a:prstGeom>
          <a:noFill/>
          <a:ln/>
        </p:spPr>
        <p:txBody>
          <a:bodyPr wrap="square" rtlCol="0" anchor="ctr"/>
          <a:lstStyle/>
          <a:p>
            <a:pPr algn="l" indent="0" marL="0">
              <a:lnSpc>
                <a:spcPts val="1782"/>
              </a:lnSpc>
              <a:buNone/>
            </a:pPr>
            <a:r>
              <a:rPr lang="en-US" sz="1350" spc="-27" kern="0" dirty="0">
                <a:solidFill>
                  <a:srgbClr val="FFFFFF">
                    <a:alpha val="99000"/>
                  </a:srgbClr>
                </a:solidFill>
                <a:latin typeface="Inter" pitchFamily="34" charset="0"/>
                <a:ea typeface="Inter" pitchFamily="34" charset="-122"/>
                <a:cs typeface="Inter" pitchFamily="34" charset="-120"/>
              </a:rPr>
              <a:t>~20m </a:t>
            </a:r>
            <a:endParaRPr lang="en-US" sz="1350" dirty="0"/>
          </a:p>
        </p:txBody>
      </p:sp>
      <p:sp>
        <p:nvSpPr>
          <p:cNvPr id="11" name="Text 9"/>
          <p:cNvSpPr/>
          <p:nvPr/>
        </p:nvSpPr>
        <p:spPr>
          <a:xfrm>
            <a:off x="3581400" y="3667125"/>
            <a:ext cx="2465387" cy="228600"/>
          </a:xfrm>
          <a:prstGeom prst="rect">
            <a:avLst/>
          </a:prstGeom>
          <a:noFill/>
          <a:ln/>
        </p:spPr>
        <p:txBody>
          <a:bodyPr wrap="square" rtlCol="0" anchor="ctr"/>
          <a:lstStyle/>
          <a:p>
            <a:pPr algn="l" indent="0" marL="0">
              <a:lnSpc>
                <a:spcPts val="1782"/>
              </a:lnSpc>
              <a:buNone/>
            </a:pPr>
            <a:r>
              <a:rPr lang="en-US" sz="1350" spc="-27" kern="0" dirty="0">
                <a:solidFill>
                  <a:srgbClr val="FFFFFF">
                    <a:alpha val="99000"/>
                  </a:srgbClr>
                </a:solidFill>
                <a:latin typeface="Inter" pitchFamily="34" charset="0"/>
                <a:ea typeface="Inter" pitchFamily="34" charset="-122"/>
                <a:cs typeface="Inter" pitchFamily="34" charset="-120"/>
              </a:rPr>
              <a:t>You:</a:t>
            </a:r>
            <a:endParaRPr lang="en-US" sz="1350" dirty="0"/>
          </a:p>
        </p:txBody>
      </p:sp>
      <p:sp>
        <p:nvSpPr>
          <p:cNvPr id="12" name="Text 10"/>
          <p:cNvSpPr/>
          <p:nvPr/>
        </p:nvSpPr>
        <p:spPr>
          <a:xfrm>
            <a:off x="3581400" y="1824038"/>
            <a:ext cx="2465387" cy="276225"/>
          </a:xfrm>
          <a:prstGeom prst="rect">
            <a:avLst/>
          </a:prstGeom>
          <a:noFill/>
          <a:ln/>
        </p:spPr>
        <p:txBody>
          <a:bodyPr wrap="square" rtlCol="0" anchor="ctr"/>
          <a:lstStyle/>
          <a:p>
            <a:pPr algn="l" indent="0" marL="0">
              <a:lnSpc>
                <a:spcPts val="2160"/>
              </a:lnSpc>
              <a:buNone/>
            </a:pPr>
            <a:r>
              <a:rPr lang="en-US" sz="1800" b="1" spc="-36" kern="0" dirty="0">
                <a:solidFill>
                  <a:srgbClr val="FFFFFF">
                    <a:alpha val="99000"/>
                  </a:srgbClr>
                </a:solidFill>
                <a:latin typeface="Inter" pitchFamily="34" charset="0"/>
                <a:ea typeface="Inter" pitchFamily="34" charset="-122"/>
                <a:cs typeface="Inter" pitchFamily="34" charset="-120"/>
              </a:rPr>
              <a:t>Demo</a:t>
            </a:r>
            <a:endParaRPr lang="en-US" sz="1800" dirty="0"/>
          </a:p>
        </p:txBody>
      </p:sp>
      <p:sp>
        <p:nvSpPr>
          <p:cNvPr id="13" name="Text 11"/>
          <p:cNvSpPr/>
          <p:nvPr/>
        </p:nvSpPr>
        <p:spPr>
          <a:xfrm>
            <a:off x="3581400" y="3895725"/>
            <a:ext cx="2465387" cy="276225"/>
          </a:xfrm>
          <a:prstGeom prst="rect">
            <a:avLst/>
          </a:prstGeom>
          <a:noFill/>
          <a:ln/>
        </p:spPr>
        <p:txBody>
          <a:bodyPr wrap="square" rtlCol="0" anchor="ctr"/>
          <a:lstStyle/>
          <a:p>
            <a:pPr algn="l" indent="0" marL="0">
              <a:lnSpc>
                <a:spcPts val="2160"/>
              </a:lnSpc>
              <a:buNone/>
            </a:pPr>
            <a:r>
              <a:rPr lang="en-US" sz="1800" b="1" spc="-36" kern="0" dirty="0">
                <a:solidFill>
                  <a:srgbClr val="FFFFFF">
                    <a:alpha val="99000"/>
                  </a:srgbClr>
                </a:solidFill>
                <a:latin typeface="Inter" pitchFamily="34" charset="0"/>
                <a:ea typeface="Inter" pitchFamily="34" charset="-122"/>
                <a:cs typeface="Inter" pitchFamily="34" charset="-120"/>
              </a:rPr>
              <a:t>Follow along</a:t>
            </a:r>
            <a:endParaRPr lang="en-US" sz="1800" dirty="0"/>
          </a:p>
        </p:txBody>
      </p:sp>
      <p:sp>
        <p:nvSpPr>
          <p:cNvPr id="14" name="Text 12"/>
          <p:cNvSpPr/>
          <p:nvPr/>
        </p:nvSpPr>
        <p:spPr>
          <a:xfrm>
            <a:off x="838200" y="1600200"/>
            <a:ext cx="2465387" cy="228600"/>
          </a:xfrm>
          <a:prstGeom prst="rect">
            <a:avLst/>
          </a:prstGeom>
          <a:noFill/>
          <a:ln/>
        </p:spPr>
        <p:txBody>
          <a:bodyPr wrap="square" rtlCol="0" anchor="ctr"/>
          <a:lstStyle/>
          <a:p>
            <a:pPr algn="l" indent="0" marL="0">
              <a:lnSpc>
                <a:spcPts val="1782"/>
              </a:lnSpc>
              <a:buNone/>
            </a:pPr>
            <a:r>
              <a:rPr lang="en-US" sz="1350" spc="-27" kern="0" dirty="0">
                <a:solidFill>
                  <a:srgbClr val="FFFFFF">
                    <a:alpha val="99000"/>
                  </a:srgbClr>
                </a:solidFill>
                <a:latin typeface="Inter" pitchFamily="34" charset="0"/>
                <a:ea typeface="Inter" pitchFamily="34" charset="-122"/>
                <a:cs typeface="Inter" pitchFamily="34" charset="-120"/>
              </a:rPr>
              <a:t>~15m </a:t>
            </a:r>
            <a:endParaRPr lang="en-US" sz="1350" dirty="0"/>
          </a:p>
        </p:txBody>
      </p:sp>
      <p:sp>
        <p:nvSpPr>
          <p:cNvPr id="15" name="Text 13"/>
          <p:cNvSpPr/>
          <p:nvPr/>
        </p:nvSpPr>
        <p:spPr>
          <a:xfrm>
            <a:off x="838200" y="3671888"/>
            <a:ext cx="2465387" cy="228600"/>
          </a:xfrm>
          <a:prstGeom prst="rect">
            <a:avLst/>
          </a:prstGeom>
          <a:noFill/>
          <a:ln/>
        </p:spPr>
        <p:txBody>
          <a:bodyPr wrap="square" rtlCol="0" anchor="ctr"/>
          <a:lstStyle/>
          <a:p>
            <a:pPr algn="l" indent="0" marL="0">
              <a:lnSpc>
                <a:spcPts val="1782"/>
              </a:lnSpc>
              <a:buNone/>
            </a:pPr>
            <a:r>
              <a:rPr lang="en-US" sz="1350" spc="-27" kern="0" dirty="0">
                <a:solidFill>
                  <a:srgbClr val="FFFFFF">
                    <a:alpha val="99000"/>
                  </a:srgbClr>
                </a:solidFill>
                <a:latin typeface="Inter" pitchFamily="34" charset="0"/>
                <a:ea typeface="Inter" pitchFamily="34" charset="-122"/>
                <a:cs typeface="Inter" pitchFamily="34" charset="-120"/>
              </a:rPr>
              <a:t>You:</a:t>
            </a:r>
            <a:endParaRPr lang="en-US" sz="1350" dirty="0"/>
          </a:p>
        </p:txBody>
      </p:sp>
      <p:sp>
        <p:nvSpPr>
          <p:cNvPr id="16" name="Text 14"/>
          <p:cNvSpPr/>
          <p:nvPr/>
        </p:nvSpPr>
        <p:spPr>
          <a:xfrm>
            <a:off x="838200" y="1828800"/>
            <a:ext cx="2465387" cy="276225"/>
          </a:xfrm>
          <a:prstGeom prst="rect">
            <a:avLst/>
          </a:prstGeom>
          <a:noFill/>
          <a:ln/>
        </p:spPr>
        <p:txBody>
          <a:bodyPr wrap="square" rtlCol="0" anchor="ctr"/>
          <a:lstStyle/>
          <a:p>
            <a:pPr algn="l" indent="0" marL="0">
              <a:lnSpc>
                <a:spcPts val="2160"/>
              </a:lnSpc>
              <a:buNone/>
            </a:pPr>
            <a:r>
              <a:rPr lang="en-US" sz="1800" b="1" spc="-36" kern="0" dirty="0">
                <a:solidFill>
                  <a:srgbClr val="FFFFFF">
                    <a:alpha val="99000"/>
                  </a:srgbClr>
                </a:solidFill>
                <a:latin typeface="Inter" pitchFamily="34" charset="0"/>
                <a:ea typeface="Inter" pitchFamily="34" charset="-122"/>
                <a:cs typeface="Inter" pitchFamily="34" charset="-120"/>
              </a:rPr>
              <a:t>Lecture</a:t>
            </a:r>
            <a:endParaRPr lang="en-US" sz="1800" dirty="0"/>
          </a:p>
        </p:txBody>
      </p:sp>
      <p:sp>
        <p:nvSpPr>
          <p:cNvPr id="17" name="Text 15"/>
          <p:cNvSpPr/>
          <p:nvPr/>
        </p:nvSpPr>
        <p:spPr>
          <a:xfrm>
            <a:off x="838200" y="3900488"/>
            <a:ext cx="2465387" cy="276225"/>
          </a:xfrm>
          <a:prstGeom prst="rect">
            <a:avLst/>
          </a:prstGeom>
          <a:noFill/>
          <a:ln/>
        </p:spPr>
        <p:txBody>
          <a:bodyPr wrap="square" rtlCol="0" anchor="ctr"/>
          <a:lstStyle/>
          <a:p>
            <a:pPr algn="l" indent="0" marL="0">
              <a:lnSpc>
                <a:spcPts val="2160"/>
              </a:lnSpc>
              <a:buNone/>
            </a:pPr>
            <a:r>
              <a:rPr lang="en-US" sz="1800" b="1" spc="-36" kern="0" dirty="0">
                <a:solidFill>
                  <a:srgbClr val="FFFFFF">
                    <a:alpha val="99000"/>
                  </a:srgbClr>
                </a:solidFill>
                <a:latin typeface="Inter" pitchFamily="34" charset="0"/>
                <a:ea typeface="Inter" pitchFamily="34" charset="-122"/>
                <a:cs typeface="Inter" pitchFamily="34" charset="-120"/>
              </a:rPr>
              <a:t>Listen and discuss</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1714500" y="2124075"/>
            <a:ext cx="5715000" cy="900113"/>
          </a:xfrm>
          <a:prstGeom prst="rect">
            <a:avLst/>
          </a:prstGeom>
          <a:noFill/>
          <a:ln/>
        </p:spPr>
      </p:sp>
      <p:sp>
        <p:nvSpPr>
          <p:cNvPr id="3" name="Text 1"/>
          <p:cNvSpPr/>
          <p:nvPr/>
        </p:nvSpPr>
        <p:spPr>
          <a:xfrm>
            <a:off x="1714500" y="2124075"/>
            <a:ext cx="6172200" cy="547688"/>
          </a:xfrm>
          <a:prstGeom prst="rect">
            <a:avLst/>
          </a:prstGeom>
          <a:noFill/>
          <a:ln/>
        </p:spPr>
        <p:txBody>
          <a:bodyPr wrap="square" rtlCol="0" anchor="ctr"/>
          <a:lstStyle/>
          <a:p>
            <a:pPr algn="ctr" indent="0" marL="0">
              <a:lnSpc>
                <a:spcPts val="4320"/>
              </a:lnSpc>
              <a:buNone/>
            </a:pPr>
            <a:r>
              <a:rPr lang="en-US" sz="3600" b="1" spc="-72" kern="0" dirty="0">
                <a:solidFill>
                  <a:srgbClr val="FFFFFF">
                    <a:alpha val="99000"/>
                  </a:srgbClr>
                </a:solidFill>
                <a:latin typeface="Inter" pitchFamily="34" charset="0"/>
                <a:ea typeface="Inter" pitchFamily="34" charset="-122"/>
                <a:cs typeface="Inter" pitchFamily="34" charset="-120"/>
              </a:rPr>
              <a:t>Thank you</a:t>
            </a:r>
            <a:endParaRPr lang="en-US" sz="3600" dirty="0"/>
          </a:p>
        </p:txBody>
      </p:sp>
      <p:sp>
        <p:nvSpPr>
          <p:cNvPr id="4" name="Text 2"/>
          <p:cNvSpPr/>
          <p:nvPr/>
        </p:nvSpPr>
        <p:spPr>
          <a:xfrm>
            <a:off x="1714500" y="2786063"/>
            <a:ext cx="6172200" cy="238125"/>
          </a:xfrm>
          <a:prstGeom prst="rect">
            <a:avLst/>
          </a:prstGeom>
          <a:noFill/>
          <a:ln/>
        </p:spPr>
        <p:txBody>
          <a:bodyPr wrap="square" rtlCol="0" anchor="ctr"/>
          <a:lstStyle/>
          <a:p>
            <a:pPr algn="ctr" indent="0" marL="0">
              <a:lnSpc>
                <a:spcPts val="1890"/>
              </a:lnSpc>
              <a:buNone/>
            </a:pPr>
            <a:r>
              <a:rPr lang="en-US" sz="1350" spc="-13" kern="0" dirty="0">
                <a:solidFill>
                  <a:srgbClr val="FFFFFF">
                    <a:alpha val="99000"/>
                  </a:srgbClr>
                </a:solidFill>
                <a:latin typeface="Inter" pitchFamily="34" charset="0"/>
                <a:ea typeface="Inter" pitchFamily="34" charset="-122"/>
                <a:cs typeface="Inter" pitchFamily="34" charset="-120"/>
              </a:rPr>
              <a:t>Ask questions through (https://discord.gg/T8zN36C6)</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2026-01-18T10:11:11Z</dcterms:created>
  <dcterms:modified xsi:type="dcterms:W3CDTF">2026-01-18T10:11:11Z</dcterms:modified>
</cp:coreProperties>
</file>