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talkd about hardware last lecture, What about software? do I jump Directly to VS code and start building? do I have to use what we call a game engine? What is a game engine? Can I develop games without a game engine? What are the differences between game engines? Which one is better? How can I choose which one to use? this is what we are going to discuss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What software do i need in order to build a video game?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think of a simple game, ping-pong for example. Think of it as a software product. 
What are the different elements that ping-pong has? 
It has two bars, 
a ball, 
a score lable, 
an algorith to decide if a player hits the ball, 
an algorithm (aka a function) to control the opponent, 
a function to determine whether a player scores, 
and response to keyboard or mouse inputs, 
And finally, a sound that appears when the ball hits the bar.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you build that using Java? Can you build it using C? Can you build it using python? Can you build using HTML, CSS and javascript? Yes, you can.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Game Engine is a software platform that provides tools for developers to create video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question is, why do we need game engines? Short answer: efficiency. 
A game engine Is basically a bundle of systems you don't have to reinvent.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build ping-pong from scratch, you will need to do the following steps: 
1. Write the code to render the game
2. Write the code to handle the physics
3. Write the code to handle the audio
4. Write the code to handle the input
5. Write the code to handle the output
6. Write the code to handle the UI
7. Write the code to handle the game logic
However, with a game engine, like Unity for example, you just need to focus on the game logic. The engine will handle the rest.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engines come with different workflows and different expectations. 
For example, Unity is commonly used across many platforms and project types. 
Unreal is known for high-end visuals and big 3D workflows. 
Godot is lightweight and open source, and often easier to run on modest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are some examples of games built with known engines?
Unity examples:
- Among Us (Unity case study)
- Pokémon GO (there is even a dedicated “Unity Architecture in Pokémon Go” talk)
- Genshin Impact (engine listed as 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Unreal examples:
- Epic literally describes Unreal as the tech they use to ship their own games (like Gears of War)
- Gears of War: E‑Day (announced as built in Unreal Engine 5)
- Tekken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ask you a question, Do companies use game engines or have their own code? Short answer: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studios use Unity/Unreal/Godot. Others build an engine in-house because it fits their games perfectly, and it becomes their “factory”.
Examples of companies with in-house engines:
- Ubisoft has Anvil, built for Assassin’s Creed style games.
- Capcom has RE ENGINE, and they explicitly talk about engine + game teams upgrading it together.
- Guerrilla has Decima, powering big titles like Horizon and also used with Kojima Productions.
- EA has Frostbite, used across multiple EA studios.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they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Because engines are not just “graphics”. 
A company engine is:
- a long-term investment
- a way to standardize tools across teams
- a way to control performance and memory for specific game types
- a way to build custom workflows for designers, artists, animators, and QA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an important point to note is that game engines have downside also, like any library/framework/tool. Such as the learning curve, cost, overhead, and more. However, the benefits outweigh the drawbacks for most cases, especially for complex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wait, Are we going to use game engines alone or are we going to use them with a set of other tools? 
For instance, are we going to write code inside of unity? 
Are we going to model our objects inside Unity? 
Are we going to create sounds inside of Unity? 
Or do we need specialized tools in order to build these?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sure, we will need specialized tools in order to build these. So unity is used along with other tools like Blender, Audacity, etc.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609600" y="2081212"/>
            <a:ext cx="3014663" cy="1095375"/>
          </a:xfrm>
          <a:prstGeom prst="rect">
            <a:avLst/>
          </a:prstGeom>
          <a:noFill/>
          <a:ln/>
        </p:spPr>
      </p:sp>
      <p:sp>
        <p:nvSpPr>
          <p:cNvPr id="4" name="Text 1"/>
          <p:cNvSpPr/>
          <p:nvPr/>
        </p:nvSpPr>
        <p:spPr>
          <a:xfrm>
            <a:off x="609600" y="2081212"/>
            <a:ext cx="3471863" cy="1095375"/>
          </a:xfrm>
          <a:prstGeom prst="rect">
            <a:avLst/>
          </a:prstGeom>
          <a:noFill/>
          <a:ln/>
        </p:spPr>
        <p:txBody>
          <a:bodyPr wrap="square" rtlCol="0" anchor="ctr"/>
          <a:lstStyle/>
          <a:p>
            <a:pPr algn="l"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The Software of Game Dev</a:t>
            </a:r>
            <a:endParaRPr lang="en-US" sz="3600" dirty="0"/>
          </a:p>
        </p:txBody>
      </p:sp>
      <p:sp>
        <p:nvSpPr>
          <p:cNvPr id="5" name="Text 2"/>
          <p:cNvSpPr/>
          <p:nvPr/>
        </p:nvSpPr>
        <p:spPr>
          <a:xfrm>
            <a:off x="609600" y="4507706"/>
            <a:ext cx="6915150" cy="238125"/>
          </a:xfrm>
          <a:prstGeom prst="rect">
            <a:avLst/>
          </a:prstGeom>
          <a:noFill/>
          <a:ln/>
        </p:spPr>
        <p:txBody>
          <a:bodyPr wrap="square" rtlCol="0" anchor="ctr"/>
          <a:lstStyle/>
          <a:p>
            <a:pPr algn="l" indent="0" marL="0">
              <a:lnSpc>
                <a:spcPts val="1890"/>
              </a:lnSpc>
              <a:buNone/>
            </a:pPr>
            <a:r>
              <a:rPr lang="en-US" sz="1350" b="1" spc="-13" kern="0" dirty="0">
                <a:solidFill>
                  <a:srgbClr val="FFFFFF">
                    <a:alpha val="99000"/>
                  </a:srgbClr>
                </a:solidFill>
                <a:latin typeface="Inter" pitchFamily="34" charset="0"/>
                <a:ea typeface="Inter" pitchFamily="34" charset="-122"/>
                <a:cs typeface="Inter" pitchFamily="34" charset="-120"/>
              </a:rPr>
              <a:t>Dr. Omar Hammad, KFUPM</a:t>
            </a:r>
            <a:endParaRPr lang="en-US" sz="1350" dirty="0"/>
          </a:p>
        </p:txBody>
      </p:sp>
      <p:sp>
        <p:nvSpPr>
          <p:cNvPr id="6" name="Text 3"/>
          <p:cNvSpPr/>
          <p:nvPr/>
        </p:nvSpPr>
        <p:spPr>
          <a:xfrm>
            <a:off x="609600" y="514350"/>
            <a:ext cx="4200525" cy="238125"/>
          </a:xfrm>
          <a:prstGeom prst="rect">
            <a:avLst/>
          </a:prstGeom>
          <a:noFill/>
          <a:ln/>
        </p:spPr>
        <p:txBody>
          <a:bodyPr wrap="square" rtlCol="0" anchor="ctr"/>
          <a:lstStyle/>
          <a:p>
            <a:pPr algn="l" indent="0" marL="0">
              <a:lnSpc>
                <a:spcPts val="1890"/>
              </a:lnSpc>
              <a:buNone/>
            </a:pPr>
            <a:r>
              <a:rPr lang="en-US" sz="1350" spc="-13" kern="0" dirty="0">
                <a:solidFill>
                  <a:srgbClr val="FFFFFF">
                    <a:alpha val="99000"/>
                  </a:srgbClr>
                </a:solidFill>
                <a:latin typeface="Inter" pitchFamily="34" charset="0"/>
                <a:ea typeface="Inter" pitchFamily="34" charset="-122"/>
                <a:cs typeface="Inter" pitchFamily="34" charset="-120"/>
              </a:rPr>
              <a:t>Game Programming, KFUPM </a:t>
            </a:r>
            <a:endParaRPr lang="en-US" sz="1350" dirty="0"/>
          </a:p>
        </p:txBody>
      </p:sp>
      <p:sp>
        <p:nvSpPr>
          <p:cNvPr id="7" name="Text 4"/>
          <p:cNvSpPr/>
          <p:nvPr/>
        </p:nvSpPr>
        <p:spPr>
          <a:xfrm>
            <a:off x="609600" y="752475"/>
            <a:ext cx="4200525" cy="238125"/>
          </a:xfrm>
          <a:prstGeom prst="rect">
            <a:avLst/>
          </a:prstGeom>
          <a:noFill/>
          <a:ln/>
        </p:spPr>
        <p:txBody>
          <a:bodyPr wrap="square" rtlCol="0" anchor="ctr"/>
          <a:lstStyle/>
          <a:p>
            <a:pPr algn="l" indent="0" marL="0">
              <a:lnSpc>
                <a:spcPts val="1890"/>
              </a:lnSpc>
              <a:buNone/>
            </a:pPr>
            <a:r>
              <a:rPr lang="en-US" sz="1350" spc="-13" kern="0" dirty="0">
                <a:solidFill>
                  <a:srgbClr val="FFFFFF">
                    <a:alpha val="99000"/>
                  </a:srgbClr>
                </a:solidFill>
                <a:latin typeface="Inter" pitchFamily="34" charset="0"/>
                <a:ea typeface="Inter" pitchFamily="34" charset="-122"/>
                <a:cs typeface="Inter" pitchFamily="34" charset="-120"/>
              </a:rPr>
              <a:t>SWE 402, Lecture 4</a:t>
            </a:r>
            <a:endParaRPr lang="en-US" sz="1350" dirty="0"/>
          </a:p>
        </p:txBody>
      </p:sp>
      <p:pic>
        <p:nvPicPr>
          <p:cNvPr id="8" name="Image 0" descr="preencoded.png">    </p:cNvPr>
          <p:cNvPicPr>
            <a:picLocks noChangeAspect="1"/>
          </p:cNvPicPr>
          <p:nvPr/>
        </p:nvPicPr>
        <p:blipFill>
          <a:blip r:embed="rId1"/>
          <a:stretch>
            <a:fillRect/>
          </a:stretch>
        </p:blipFill>
        <p:spPr>
          <a:xfrm>
            <a:off x="4352925" y="323850"/>
            <a:ext cx="4305300" cy="4305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466850" y="2024062"/>
            <a:ext cx="6210300" cy="1095375"/>
          </a:xfrm>
          <a:prstGeom prst="rect">
            <a:avLst/>
          </a:prstGeom>
          <a:noFill/>
          <a:ln/>
        </p:spPr>
      </p:sp>
      <p:sp>
        <p:nvSpPr>
          <p:cNvPr id="4" name="Text 1"/>
          <p:cNvSpPr/>
          <p:nvPr/>
        </p:nvSpPr>
        <p:spPr>
          <a:xfrm>
            <a:off x="1466850" y="2024062"/>
            <a:ext cx="6667500" cy="1095375"/>
          </a:xfrm>
          <a:prstGeom prst="rect">
            <a:avLst/>
          </a:prstGeom>
          <a:noFill/>
          <a:ln/>
        </p:spPr>
        <p:txBody>
          <a:bodyPr wrap="square" rtlCol="0" anchor="ctr"/>
          <a:lstStyle/>
          <a:p>
            <a:pPr algn="ctr"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What software do we need to build a game?</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2614613" y="4533900"/>
            <a:ext cx="4371975"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What are the different components?</a:t>
            </a:r>
            <a:endParaRPr lang="en-US" sz="1800" dirty="0"/>
          </a:p>
        </p:txBody>
      </p:sp>
      <p:pic>
        <p:nvPicPr>
          <p:cNvPr id="4" name="Image 0" descr="preencoded.png">    </p:cNvPr>
          <p:cNvPicPr>
            <a:picLocks noChangeAspect="1"/>
          </p:cNvPicPr>
          <p:nvPr/>
        </p:nvPicPr>
        <p:blipFill>
          <a:blip r:embed="rId1"/>
          <a:stretch>
            <a:fillRect/>
          </a:stretch>
        </p:blipFill>
        <p:spPr>
          <a:xfrm>
            <a:off x="2147888" y="361950"/>
            <a:ext cx="4848225" cy="37861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466850" y="2145506"/>
            <a:ext cx="6210300" cy="1095375"/>
          </a:xfrm>
          <a:prstGeom prst="rect">
            <a:avLst/>
          </a:prstGeom>
          <a:noFill/>
          <a:ln/>
        </p:spPr>
      </p:sp>
      <p:sp>
        <p:nvSpPr>
          <p:cNvPr id="4" name="Text 1"/>
          <p:cNvSpPr/>
          <p:nvPr/>
        </p:nvSpPr>
        <p:spPr>
          <a:xfrm>
            <a:off x="1466850" y="2145506"/>
            <a:ext cx="6667500" cy="1095375"/>
          </a:xfrm>
          <a:prstGeom prst="rect">
            <a:avLst/>
          </a:prstGeom>
          <a:noFill/>
          <a:ln/>
        </p:spPr>
        <p:txBody>
          <a:bodyPr wrap="square" rtlCol="0" anchor="ctr"/>
          <a:lstStyle/>
          <a:p>
            <a:pPr algn="ctr"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Can you build this using python?</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A Game Engine</a:t>
            </a:r>
            <a:endParaRPr lang="en-US" sz="1800" dirty="0"/>
          </a:p>
        </p:txBody>
      </p:sp>
      <p:sp>
        <p:nvSpPr>
          <p:cNvPr id="4" name="Text 1"/>
          <p:cNvSpPr/>
          <p:nvPr/>
        </p:nvSpPr>
        <p:spPr>
          <a:xfrm>
            <a:off x="4572000" y="2295525"/>
            <a:ext cx="3867150" cy="476250"/>
          </a:xfrm>
          <a:prstGeom prst="rect">
            <a:avLst/>
          </a:prstGeom>
          <a:noFill/>
          <a:ln/>
        </p:spPr>
        <p:txBody>
          <a:bodyPr wrap="square" rtlCol="0" anchor="ctr"/>
          <a:lstStyle/>
          <a:p>
            <a:pPr algn="l" indent="0" marL="0">
              <a:lnSpc>
                <a:spcPts val="1890"/>
              </a:lnSpc>
              <a:buNone/>
            </a:pPr>
            <a:r>
              <a:rPr lang="en-US" sz="1350" spc="-13" kern="0" dirty="0">
                <a:solidFill>
                  <a:srgbClr val="FFFFFF">
                    <a:alpha val="99000"/>
                  </a:srgbClr>
                </a:solidFill>
                <a:latin typeface="Inter" pitchFamily="34" charset="0"/>
                <a:ea typeface="Inter" pitchFamily="34" charset="-122"/>
                <a:cs typeface="Inter" pitchFamily="34" charset="-120"/>
              </a:rPr>
              <a:t>Is a software platform that provides tools for developers to create video games.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776288" y="2419350"/>
            <a:ext cx="7591425" cy="547688"/>
          </a:xfrm>
          <a:prstGeom prst="rect">
            <a:avLst/>
          </a:prstGeom>
          <a:noFill/>
          <a:ln/>
        </p:spPr>
      </p:sp>
      <p:sp>
        <p:nvSpPr>
          <p:cNvPr id="4" name="Text 1"/>
          <p:cNvSpPr/>
          <p:nvPr/>
        </p:nvSpPr>
        <p:spPr>
          <a:xfrm>
            <a:off x="776288" y="2419350"/>
            <a:ext cx="8048625" cy="547688"/>
          </a:xfrm>
          <a:prstGeom prst="rect">
            <a:avLst/>
          </a:prstGeom>
          <a:noFill/>
          <a:ln/>
        </p:spPr>
        <p:txBody>
          <a:bodyPr wrap="square" rtlCol="0" anchor="ctr"/>
          <a:lstStyle/>
          <a:p>
            <a:pPr algn="ctr"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a Game Engine → ~effeciency</a:t>
            </a:r>
            <a:endParaRPr 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609600" y="609600"/>
            <a:ext cx="80010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Why do you need a game engine?</a:t>
            </a:r>
            <a:endParaRPr lang="en-US" sz="1800" dirty="0"/>
          </a:p>
        </p:txBody>
      </p:sp>
      <p:sp>
        <p:nvSpPr>
          <p:cNvPr id="4" name="Shape 1"/>
          <p:cNvSpPr/>
          <p:nvPr/>
        </p:nvSpPr>
        <p:spPr>
          <a:xfrm>
            <a:off x="609600" y="1452563"/>
            <a:ext cx="3690937" cy="1123950"/>
          </a:xfrm>
          <a:prstGeom prst="roundRect">
            <a:avLst>
              <a:gd name="adj" fmla="val 13017"/>
            </a:avLst>
          </a:prstGeom>
          <a:noFill/>
          <a:ln w="12700">
            <a:solidFill>
              <a:srgbClr val="424242"/>
            </a:solidFill>
            <a:prstDash val="solid"/>
          </a:ln>
        </p:spPr>
      </p:sp>
      <p:sp>
        <p:nvSpPr>
          <p:cNvPr id="5" name="Text 2"/>
          <p:cNvSpPr/>
          <p:nvPr/>
        </p:nvSpPr>
        <p:spPr>
          <a:xfrm>
            <a:off x="838200" y="1643063"/>
            <a:ext cx="3717925" cy="228600"/>
          </a:xfrm>
          <a:prstGeom prst="rect">
            <a:avLst/>
          </a:prstGeom>
          <a:noFill/>
          <a:ln/>
        </p:spPr>
        <p:txBody>
          <a:bodyPr wrap="square" rtlCol="0" anchor="ctr"/>
          <a:lstStyle/>
          <a:p>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Rendering</a:t>
            </a:r>
            <a:endParaRPr lang="en-US" sz="1350" dirty="0"/>
          </a:p>
        </p:txBody>
      </p:sp>
      <p:sp>
        <p:nvSpPr>
          <p:cNvPr id="6" name="Text 3"/>
          <p:cNvSpPr/>
          <p:nvPr/>
        </p:nvSpPr>
        <p:spPr>
          <a:xfrm>
            <a:off x="838200" y="1990725"/>
            <a:ext cx="3719513"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Cameras, Lighting, Shaders..</a:t>
            </a:r>
            <a:endParaRPr lang="en-US" sz="1800" dirty="0"/>
          </a:p>
        </p:txBody>
      </p:sp>
      <p:sp>
        <p:nvSpPr>
          <p:cNvPr id="7" name="Shape 4"/>
          <p:cNvSpPr/>
          <p:nvPr/>
        </p:nvSpPr>
        <p:spPr>
          <a:xfrm>
            <a:off x="609600" y="2814638"/>
            <a:ext cx="3690937" cy="1123950"/>
          </a:xfrm>
          <a:prstGeom prst="roundRect">
            <a:avLst>
              <a:gd name="adj" fmla="val 13017"/>
            </a:avLst>
          </a:prstGeom>
          <a:noFill/>
          <a:ln w="12700">
            <a:solidFill>
              <a:srgbClr val="424242"/>
            </a:solidFill>
            <a:prstDash val="solid"/>
          </a:ln>
        </p:spPr>
      </p:sp>
      <p:sp>
        <p:nvSpPr>
          <p:cNvPr id="8" name="Text 5"/>
          <p:cNvSpPr/>
          <p:nvPr/>
        </p:nvSpPr>
        <p:spPr>
          <a:xfrm>
            <a:off x="838200" y="3005138"/>
            <a:ext cx="3717925" cy="228600"/>
          </a:xfrm>
          <a:prstGeom prst="rect">
            <a:avLst/>
          </a:prstGeom>
          <a:noFill/>
          <a:ln/>
        </p:spPr>
        <p:txBody>
          <a:bodyPr wrap="square" rtlCol="0" anchor="ctr"/>
          <a:lstStyle/>
          <a:p>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Audio</a:t>
            </a:r>
            <a:endParaRPr lang="en-US" sz="1350" dirty="0"/>
          </a:p>
        </p:txBody>
      </p:sp>
      <p:sp>
        <p:nvSpPr>
          <p:cNvPr id="9" name="Text 6"/>
          <p:cNvSpPr/>
          <p:nvPr/>
        </p:nvSpPr>
        <p:spPr>
          <a:xfrm>
            <a:off x="838200" y="3352800"/>
            <a:ext cx="3500438"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Mixing, spatial sound</a:t>
            </a:r>
            <a:endParaRPr lang="en-US" sz="1800" dirty="0"/>
          </a:p>
        </p:txBody>
      </p:sp>
      <p:sp>
        <p:nvSpPr>
          <p:cNvPr id="10" name="Shape 7"/>
          <p:cNvSpPr/>
          <p:nvPr/>
        </p:nvSpPr>
        <p:spPr>
          <a:xfrm>
            <a:off x="4667250" y="1452563"/>
            <a:ext cx="3867150" cy="1123950"/>
          </a:xfrm>
          <a:prstGeom prst="roundRect">
            <a:avLst>
              <a:gd name="adj" fmla="val 13017"/>
            </a:avLst>
          </a:prstGeom>
          <a:noFill/>
          <a:ln w="12700">
            <a:solidFill>
              <a:srgbClr val="424242"/>
            </a:solidFill>
            <a:prstDash val="solid"/>
          </a:ln>
        </p:spPr>
      </p:sp>
      <p:sp>
        <p:nvSpPr>
          <p:cNvPr id="11" name="Text 8"/>
          <p:cNvSpPr/>
          <p:nvPr/>
        </p:nvSpPr>
        <p:spPr>
          <a:xfrm>
            <a:off x="4895850" y="1643063"/>
            <a:ext cx="3894137" cy="228600"/>
          </a:xfrm>
          <a:prstGeom prst="rect">
            <a:avLst/>
          </a:prstGeom>
          <a:noFill/>
          <a:ln/>
        </p:spPr>
        <p:txBody>
          <a:bodyPr wrap="square" rtlCol="0" anchor="ctr"/>
          <a:lstStyle/>
          <a:p>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Physics</a:t>
            </a:r>
            <a:endParaRPr lang="en-US" sz="1350" dirty="0"/>
          </a:p>
        </p:txBody>
      </p:sp>
      <p:sp>
        <p:nvSpPr>
          <p:cNvPr id="12" name="Text 9"/>
          <p:cNvSpPr/>
          <p:nvPr/>
        </p:nvSpPr>
        <p:spPr>
          <a:xfrm>
            <a:off x="4895850" y="2009775"/>
            <a:ext cx="3894137"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Collisions, Simulation..</a:t>
            </a:r>
            <a:endParaRPr lang="en-US" sz="1800" dirty="0"/>
          </a:p>
        </p:txBody>
      </p:sp>
      <p:sp>
        <p:nvSpPr>
          <p:cNvPr id="13" name="Shape 10"/>
          <p:cNvSpPr/>
          <p:nvPr/>
        </p:nvSpPr>
        <p:spPr>
          <a:xfrm>
            <a:off x="4667250" y="2814638"/>
            <a:ext cx="3867150" cy="1123950"/>
          </a:xfrm>
          <a:prstGeom prst="roundRect">
            <a:avLst>
              <a:gd name="adj" fmla="val 13017"/>
            </a:avLst>
          </a:prstGeom>
          <a:noFill/>
          <a:ln w="12700">
            <a:solidFill>
              <a:srgbClr val="424242"/>
            </a:solidFill>
            <a:prstDash val="solid"/>
          </a:ln>
        </p:spPr>
      </p:sp>
      <p:sp>
        <p:nvSpPr>
          <p:cNvPr id="14" name="Text 11"/>
          <p:cNvSpPr/>
          <p:nvPr/>
        </p:nvSpPr>
        <p:spPr>
          <a:xfrm>
            <a:off x="4895850" y="3005138"/>
            <a:ext cx="3894137" cy="228600"/>
          </a:xfrm>
          <a:prstGeom prst="rect">
            <a:avLst/>
          </a:prstGeom>
          <a:noFill/>
          <a:ln/>
        </p:spPr>
        <p:txBody>
          <a:bodyPr wrap="square" rtlCol="0" anchor="ctr"/>
          <a:lstStyle/>
          <a:p>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Input + Builds</a:t>
            </a:r>
            <a:endParaRPr lang="en-US" sz="1350" dirty="0"/>
          </a:p>
        </p:txBody>
      </p:sp>
      <p:sp>
        <p:nvSpPr>
          <p:cNvPr id="15" name="Text 12"/>
          <p:cNvSpPr/>
          <p:nvPr/>
        </p:nvSpPr>
        <p:spPr>
          <a:xfrm>
            <a:off x="4895850" y="3371850"/>
            <a:ext cx="3894137"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Controllers + platform export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609600" y="609600"/>
            <a:ext cx="80010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Which Engine to choose?</a:t>
            </a:r>
            <a:endParaRPr lang="en-US" sz="1800" dirty="0"/>
          </a:p>
        </p:txBody>
      </p:sp>
      <p:sp>
        <p:nvSpPr>
          <p:cNvPr id="4" name="Shape 1"/>
          <p:cNvSpPr/>
          <p:nvPr/>
        </p:nvSpPr>
        <p:spPr>
          <a:xfrm>
            <a:off x="609600" y="1385888"/>
            <a:ext cx="2438400" cy="2881313"/>
          </a:xfrm>
          <a:prstGeom prst="roundRect">
            <a:avLst>
              <a:gd name="adj" fmla="val 6000"/>
            </a:avLst>
          </a:prstGeom>
          <a:noFill/>
          <a:ln w="12700">
            <a:solidFill>
              <a:srgbClr val="424242"/>
            </a:solidFill>
            <a:prstDash val="solid"/>
          </a:ln>
        </p:spPr>
      </p:sp>
      <p:sp>
        <p:nvSpPr>
          <p:cNvPr id="5" name="Text 2"/>
          <p:cNvSpPr/>
          <p:nvPr/>
        </p:nvSpPr>
        <p:spPr>
          <a:xfrm>
            <a:off x="838200" y="1576388"/>
            <a:ext cx="2465387"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Unity</a:t>
            </a:r>
            <a:endParaRPr lang="en-US" sz="1350" dirty="0"/>
          </a:p>
        </p:txBody>
      </p:sp>
      <p:sp>
        <p:nvSpPr>
          <p:cNvPr id="6" name="Text 3"/>
          <p:cNvSpPr/>
          <p:nvPr/>
        </p:nvSpPr>
        <p:spPr>
          <a:xfrm>
            <a:off x="838200" y="3348038"/>
            <a:ext cx="2465387" cy="552450"/>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General-purpose</a:t>
            </a:r>
            <a:endParaRPr lang="en-US" sz="1800" dirty="0"/>
          </a:p>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Many platforms</a:t>
            </a:r>
            <a:endParaRPr lang="en-US" sz="1800" dirty="0"/>
          </a:p>
        </p:txBody>
      </p:sp>
      <p:pic>
        <p:nvPicPr>
          <p:cNvPr id="7" name="Image 0" descr="preencoded.png">    </p:cNvPr>
          <p:cNvPicPr>
            <a:picLocks noChangeAspect="1"/>
          </p:cNvPicPr>
          <p:nvPr/>
        </p:nvPicPr>
        <p:blipFill>
          <a:blip r:embed="rId1"/>
          <a:stretch>
            <a:fillRect/>
          </a:stretch>
        </p:blipFill>
        <p:spPr>
          <a:xfrm>
            <a:off x="1385888" y="2109788"/>
            <a:ext cx="881063" cy="933450"/>
          </a:xfrm>
          <a:prstGeom prst="rect">
            <a:avLst/>
          </a:prstGeom>
        </p:spPr>
      </p:pic>
      <p:sp>
        <p:nvSpPr>
          <p:cNvPr id="8" name="Shape 4"/>
          <p:cNvSpPr/>
          <p:nvPr/>
        </p:nvSpPr>
        <p:spPr>
          <a:xfrm>
            <a:off x="3352800" y="1385888"/>
            <a:ext cx="2438400" cy="2881313"/>
          </a:xfrm>
          <a:prstGeom prst="roundRect">
            <a:avLst>
              <a:gd name="adj" fmla="val 6000"/>
            </a:avLst>
          </a:prstGeom>
          <a:noFill/>
          <a:ln w="12700">
            <a:solidFill>
              <a:srgbClr val="424242"/>
            </a:solidFill>
            <a:prstDash val="solid"/>
          </a:ln>
        </p:spPr>
      </p:sp>
      <p:sp>
        <p:nvSpPr>
          <p:cNvPr id="9" name="Text 5"/>
          <p:cNvSpPr/>
          <p:nvPr/>
        </p:nvSpPr>
        <p:spPr>
          <a:xfrm>
            <a:off x="3581400" y="1576388"/>
            <a:ext cx="2465387"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Unreal</a:t>
            </a:r>
            <a:endParaRPr lang="en-US" sz="1350" dirty="0"/>
          </a:p>
        </p:txBody>
      </p:sp>
      <p:pic>
        <p:nvPicPr>
          <p:cNvPr id="10" name="Image 1" descr="preencoded.png">    </p:cNvPr>
          <p:cNvPicPr>
            <a:picLocks noChangeAspect="1"/>
          </p:cNvPicPr>
          <p:nvPr/>
        </p:nvPicPr>
        <p:blipFill>
          <a:blip r:embed="rId2"/>
          <a:stretch>
            <a:fillRect/>
          </a:stretch>
        </p:blipFill>
        <p:spPr>
          <a:xfrm>
            <a:off x="3962400" y="2066925"/>
            <a:ext cx="1009650" cy="1019175"/>
          </a:xfrm>
          <a:prstGeom prst="rect">
            <a:avLst/>
          </a:prstGeom>
        </p:spPr>
      </p:pic>
      <p:sp>
        <p:nvSpPr>
          <p:cNvPr id="11" name="Text 6"/>
          <p:cNvSpPr/>
          <p:nvPr/>
        </p:nvSpPr>
        <p:spPr>
          <a:xfrm>
            <a:off x="3581400" y="3348038"/>
            <a:ext cx="2465387" cy="552450"/>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High-end 3D</a:t>
            </a:r>
            <a:endParaRPr lang="en-US" sz="1800" dirty="0"/>
          </a:p>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Big workflows</a:t>
            </a:r>
            <a:endParaRPr lang="en-US" sz="1800" dirty="0"/>
          </a:p>
        </p:txBody>
      </p:sp>
      <p:sp>
        <p:nvSpPr>
          <p:cNvPr id="12" name="Shape 7"/>
          <p:cNvSpPr/>
          <p:nvPr/>
        </p:nvSpPr>
        <p:spPr>
          <a:xfrm>
            <a:off x="6096000" y="1385888"/>
            <a:ext cx="2438400" cy="2881313"/>
          </a:xfrm>
          <a:prstGeom prst="roundRect">
            <a:avLst>
              <a:gd name="adj" fmla="val 6000"/>
            </a:avLst>
          </a:prstGeom>
          <a:noFill/>
          <a:ln w="12700">
            <a:solidFill>
              <a:srgbClr val="424242"/>
            </a:solidFill>
            <a:prstDash val="solid"/>
          </a:ln>
        </p:spPr>
      </p:sp>
      <p:sp>
        <p:nvSpPr>
          <p:cNvPr id="13" name="Text 8"/>
          <p:cNvSpPr/>
          <p:nvPr/>
        </p:nvSpPr>
        <p:spPr>
          <a:xfrm>
            <a:off x="6324600" y="1576388"/>
            <a:ext cx="2465387"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Godot</a:t>
            </a:r>
            <a:endParaRPr lang="en-US" sz="1350" dirty="0"/>
          </a:p>
        </p:txBody>
      </p:sp>
      <p:sp>
        <p:nvSpPr>
          <p:cNvPr id="14" name="Text 9"/>
          <p:cNvSpPr/>
          <p:nvPr/>
        </p:nvSpPr>
        <p:spPr>
          <a:xfrm>
            <a:off x="6324600" y="3333750"/>
            <a:ext cx="2465387" cy="552450"/>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Lightweight</a:t>
            </a:r>
            <a:endParaRPr lang="en-US" sz="1800" dirty="0"/>
          </a:p>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Open-source</a:t>
            </a:r>
            <a:endParaRPr lang="en-US" sz="1800" dirty="0"/>
          </a:p>
        </p:txBody>
      </p:sp>
      <p:pic>
        <p:nvPicPr>
          <p:cNvPr id="15" name="Image 2" descr="preencoded.png">    </p:cNvPr>
          <p:cNvPicPr>
            <a:picLocks noChangeAspect="1"/>
          </p:cNvPicPr>
          <p:nvPr/>
        </p:nvPicPr>
        <p:blipFill>
          <a:blip r:embed="rId3"/>
          <a:stretch>
            <a:fillRect/>
          </a:stretch>
        </p:blipFill>
        <p:spPr>
          <a:xfrm>
            <a:off x="6400800" y="2038350"/>
            <a:ext cx="1543050" cy="1062038"/>
          </a:xfrm>
          <a:prstGeom prst="rect">
            <a:avLst/>
          </a:prstGeom>
        </p:spPr>
      </p:pic>
      <p:sp>
        <p:nvSpPr>
          <p:cNvPr id="16" name="Text 10"/>
          <p:cNvSpPr/>
          <p:nvPr/>
        </p:nvSpPr>
        <p:spPr>
          <a:xfrm>
            <a:off x="2867025" y="4533900"/>
            <a:ext cx="3867150" cy="228600"/>
          </a:xfrm>
          <a:prstGeom prst="rect">
            <a:avLst/>
          </a:prstGeom>
          <a:noFill/>
          <a:ln/>
        </p:spPr>
        <p:txBody>
          <a:bodyPr wrap="square" rtlCol="0" anchor="ctr"/>
          <a:lstStyle/>
          <a:p>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There are more than XXXXXX game engines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800100" y="390525"/>
            <a:ext cx="8001000" cy="276225"/>
          </a:xfrm>
          <a:prstGeom prst="rect">
            <a:avLst/>
          </a:prstGeom>
          <a:noFill/>
          <a:ln/>
        </p:spPr>
        <p:txBody>
          <a:bodyPr wrap="square" rtlCol="0" anchor="ctr"/>
          <a:lstStyle/>
          <a:p>
            <a:pPr algn="ctr"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Example of Games By Unity</a:t>
            </a:r>
            <a:endParaRPr lang="en-US" sz="1800" dirty="0"/>
          </a:p>
        </p:txBody>
      </p:sp>
      <p:pic>
        <p:nvPicPr>
          <p:cNvPr id="4" name="Image 0" descr="preencoded.png">    </p:cNvPr>
          <p:cNvPicPr>
            <a:picLocks noChangeAspect="1"/>
          </p:cNvPicPr>
          <p:nvPr/>
        </p:nvPicPr>
        <p:blipFill>
          <a:blip r:embed="rId1"/>
          <a:stretch>
            <a:fillRect/>
          </a:stretch>
        </p:blipFill>
        <p:spPr>
          <a:xfrm>
            <a:off x="4133850" y="2257425"/>
            <a:ext cx="881063" cy="933450"/>
          </a:xfrm>
          <a:prstGeom prst="rect">
            <a:avLst/>
          </a:prstGeom>
        </p:spPr>
      </p:pic>
      <p:pic>
        <p:nvPicPr>
          <p:cNvPr id="5" name="Image 1" descr="preencoded.png">    </p:cNvPr>
          <p:cNvPicPr>
            <a:picLocks noChangeAspect="1"/>
          </p:cNvPicPr>
          <p:nvPr/>
        </p:nvPicPr>
        <p:blipFill>
          <a:blip r:embed="rId2"/>
          <a:stretch>
            <a:fillRect/>
          </a:stretch>
        </p:blipFill>
        <p:spPr>
          <a:xfrm>
            <a:off x="609600" y="1176338"/>
            <a:ext cx="2476500" cy="1395413"/>
          </a:xfrm>
          <a:prstGeom prst="rect">
            <a:avLst/>
          </a:prstGeom>
        </p:spPr>
      </p:pic>
      <p:pic>
        <p:nvPicPr>
          <p:cNvPr id="6" name="Image 2" descr="preencoded.png">    </p:cNvPr>
          <p:cNvPicPr>
            <a:picLocks noChangeAspect="1"/>
          </p:cNvPicPr>
          <p:nvPr/>
        </p:nvPicPr>
        <p:blipFill>
          <a:blip r:embed="rId3"/>
          <a:stretch>
            <a:fillRect/>
          </a:stretch>
        </p:blipFill>
        <p:spPr>
          <a:xfrm>
            <a:off x="609600" y="2886075"/>
            <a:ext cx="2476500" cy="1519238"/>
          </a:xfrm>
          <a:prstGeom prst="rect">
            <a:avLst/>
          </a:prstGeom>
        </p:spPr>
      </p:pic>
      <p:pic>
        <p:nvPicPr>
          <p:cNvPr id="7" name="Image 3" descr="preencoded.png">    </p:cNvPr>
          <p:cNvPicPr>
            <a:picLocks noChangeAspect="1"/>
          </p:cNvPicPr>
          <p:nvPr/>
        </p:nvPicPr>
        <p:blipFill>
          <a:blip r:embed="rId4"/>
          <a:stretch>
            <a:fillRect/>
          </a:stretch>
        </p:blipFill>
        <p:spPr>
          <a:xfrm>
            <a:off x="6348413" y="1200150"/>
            <a:ext cx="1795463" cy="320618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800100" y="390525"/>
            <a:ext cx="8001000" cy="276225"/>
          </a:xfrm>
          <a:prstGeom prst="rect">
            <a:avLst/>
          </a:prstGeom>
          <a:noFill/>
          <a:ln/>
        </p:spPr>
        <p:txBody>
          <a:bodyPr wrap="square" rtlCol="0" anchor="ctr"/>
          <a:lstStyle/>
          <a:p>
            <a:pPr algn="ctr"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Example of Games By Unreal</a:t>
            </a:r>
            <a:endParaRPr lang="en-US" sz="1800" dirty="0"/>
          </a:p>
        </p:txBody>
      </p:sp>
      <p:pic>
        <p:nvPicPr>
          <p:cNvPr id="4" name="Image 0" descr="preencoded.png">    </p:cNvPr>
          <p:cNvPicPr>
            <a:picLocks noChangeAspect="1"/>
          </p:cNvPicPr>
          <p:nvPr/>
        </p:nvPicPr>
        <p:blipFill>
          <a:blip r:embed="rId1"/>
          <a:stretch>
            <a:fillRect/>
          </a:stretch>
        </p:blipFill>
        <p:spPr>
          <a:xfrm>
            <a:off x="4069556" y="2257425"/>
            <a:ext cx="1009650" cy="1019175"/>
          </a:xfrm>
          <a:prstGeom prst="rect">
            <a:avLst/>
          </a:prstGeom>
        </p:spPr>
      </p:pic>
      <p:pic>
        <p:nvPicPr>
          <p:cNvPr id="5" name="Image 1" descr="preencoded.png">    </p:cNvPr>
          <p:cNvPicPr>
            <a:picLocks noChangeAspect="1"/>
          </p:cNvPicPr>
          <p:nvPr/>
        </p:nvPicPr>
        <p:blipFill>
          <a:blip r:embed="rId2"/>
          <a:stretch>
            <a:fillRect/>
          </a:stretch>
        </p:blipFill>
        <p:spPr>
          <a:xfrm>
            <a:off x="609600" y="1128713"/>
            <a:ext cx="2857500" cy="1443038"/>
          </a:xfrm>
          <a:prstGeom prst="rect">
            <a:avLst/>
          </a:prstGeom>
        </p:spPr>
      </p:pic>
      <p:pic>
        <p:nvPicPr>
          <p:cNvPr id="6" name="Image 2" descr="preencoded.png">    </p:cNvPr>
          <p:cNvPicPr>
            <a:picLocks noChangeAspect="1"/>
          </p:cNvPicPr>
          <p:nvPr/>
        </p:nvPicPr>
        <p:blipFill>
          <a:blip r:embed="rId3"/>
          <a:stretch>
            <a:fillRect/>
          </a:stretch>
        </p:blipFill>
        <p:spPr>
          <a:xfrm>
            <a:off x="609600" y="3009900"/>
            <a:ext cx="2857500" cy="1604963"/>
          </a:xfrm>
          <a:prstGeom prst="rect">
            <a:avLst/>
          </a:prstGeom>
        </p:spPr>
      </p:pic>
      <p:pic>
        <p:nvPicPr>
          <p:cNvPr id="7" name="Image 3" descr="preencoded.png">    </p:cNvPr>
          <p:cNvPicPr>
            <a:picLocks noChangeAspect="1"/>
          </p:cNvPicPr>
          <p:nvPr/>
        </p:nvPicPr>
        <p:blipFill>
          <a:blip r:embed="rId4"/>
          <a:stretch>
            <a:fillRect/>
          </a:stretch>
        </p:blipFill>
        <p:spPr>
          <a:xfrm>
            <a:off x="5538788" y="1504950"/>
            <a:ext cx="2805113" cy="25241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466850" y="1871663"/>
            <a:ext cx="6210300" cy="1643063"/>
          </a:xfrm>
          <a:prstGeom prst="rect">
            <a:avLst/>
          </a:prstGeom>
          <a:noFill/>
          <a:ln/>
        </p:spPr>
      </p:sp>
      <p:sp>
        <p:nvSpPr>
          <p:cNvPr id="4" name="Text 1"/>
          <p:cNvSpPr/>
          <p:nvPr/>
        </p:nvSpPr>
        <p:spPr>
          <a:xfrm>
            <a:off x="1466850" y="1871663"/>
            <a:ext cx="6667500" cy="1643063"/>
          </a:xfrm>
          <a:prstGeom prst="rect">
            <a:avLst/>
          </a:prstGeom>
          <a:noFill/>
          <a:ln/>
        </p:spPr>
        <p:txBody>
          <a:bodyPr wrap="square" rtlCol="0" anchor="ctr"/>
          <a:lstStyle/>
          <a:p>
            <a:pPr algn="ctr"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Do big companies use known game engines or their own code?</a:t>
            </a:r>
            <a:endParaRPr lang="en-US" sz="3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609600" y="609600"/>
            <a:ext cx="80010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Custom Game Engines</a:t>
            </a:r>
            <a:endParaRPr lang="en-US" sz="1800" dirty="0"/>
          </a:p>
        </p:txBody>
      </p:sp>
      <p:sp>
        <p:nvSpPr>
          <p:cNvPr id="4" name="Shape 1"/>
          <p:cNvSpPr/>
          <p:nvPr/>
        </p:nvSpPr>
        <p:spPr>
          <a:xfrm>
            <a:off x="609600" y="1471613"/>
            <a:ext cx="3719512" cy="1352550"/>
          </a:xfrm>
          <a:prstGeom prst="roundRect">
            <a:avLst>
              <a:gd name="adj" fmla="val 10817"/>
            </a:avLst>
          </a:prstGeom>
          <a:noFill/>
          <a:ln w="12700">
            <a:solidFill>
              <a:srgbClr val="424242"/>
            </a:solidFill>
            <a:prstDash val="solid"/>
          </a:ln>
        </p:spPr>
      </p:sp>
      <p:sp>
        <p:nvSpPr>
          <p:cNvPr id="5" name="Text 2"/>
          <p:cNvSpPr/>
          <p:nvPr/>
        </p:nvSpPr>
        <p:spPr>
          <a:xfrm>
            <a:off x="838200" y="1819275"/>
            <a:ext cx="3746500"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Anvil</a:t>
            </a:r>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 by</a:t>
            </a:r>
            <a:endParaRPr lang="en-US" sz="1350" dirty="0"/>
          </a:p>
        </p:txBody>
      </p:sp>
      <p:sp>
        <p:nvSpPr>
          <p:cNvPr id="6" name="Text 3"/>
          <p:cNvSpPr/>
          <p:nvPr/>
        </p:nvSpPr>
        <p:spPr>
          <a:xfrm>
            <a:off x="838200" y="2100263"/>
            <a:ext cx="37465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Ubisoft</a:t>
            </a:r>
            <a:endParaRPr lang="en-US" sz="1800" dirty="0"/>
          </a:p>
        </p:txBody>
      </p:sp>
      <p:pic>
        <p:nvPicPr>
          <p:cNvPr id="7" name="Image 0" descr="preencoded.png">    </p:cNvPr>
          <p:cNvPicPr>
            <a:picLocks noChangeAspect="1"/>
          </p:cNvPicPr>
          <p:nvPr/>
        </p:nvPicPr>
        <p:blipFill>
          <a:blip r:embed="rId1"/>
          <a:stretch>
            <a:fillRect/>
          </a:stretch>
        </p:blipFill>
        <p:spPr>
          <a:xfrm>
            <a:off x="2943225" y="1733550"/>
            <a:ext cx="1185863" cy="828675"/>
          </a:xfrm>
          <a:prstGeom prst="rect">
            <a:avLst/>
          </a:prstGeom>
        </p:spPr>
      </p:pic>
      <p:sp>
        <p:nvSpPr>
          <p:cNvPr id="8" name="Shape 4"/>
          <p:cNvSpPr/>
          <p:nvPr/>
        </p:nvSpPr>
        <p:spPr>
          <a:xfrm>
            <a:off x="609600" y="3048000"/>
            <a:ext cx="3719512" cy="1352550"/>
          </a:xfrm>
          <a:prstGeom prst="roundRect">
            <a:avLst>
              <a:gd name="adj" fmla="val 10817"/>
            </a:avLst>
          </a:prstGeom>
          <a:noFill/>
          <a:ln w="12700">
            <a:solidFill>
              <a:srgbClr val="424242"/>
            </a:solidFill>
            <a:prstDash val="solid"/>
          </a:ln>
        </p:spPr>
      </p:sp>
      <p:sp>
        <p:nvSpPr>
          <p:cNvPr id="9" name="Text 5"/>
          <p:cNvSpPr/>
          <p:nvPr/>
        </p:nvSpPr>
        <p:spPr>
          <a:xfrm>
            <a:off x="838200" y="3395663"/>
            <a:ext cx="3746500"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Decima</a:t>
            </a:r>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 by</a:t>
            </a:r>
            <a:endParaRPr lang="en-US" sz="1350" dirty="0"/>
          </a:p>
        </p:txBody>
      </p:sp>
      <p:sp>
        <p:nvSpPr>
          <p:cNvPr id="10" name="Text 6"/>
          <p:cNvSpPr/>
          <p:nvPr/>
        </p:nvSpPr>
        <p:spPr>
          <a:xfrm>
            <a:off x="838200" y="3681413"/>
            <a:ext cx="37465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Guerrilla</a:t>
            </a:r>
            <a:endParaRPr lang="en-US" sz="1800" dirty="0"/>
          </a:p>
        </p:txBody>
      </p:sp>
      <p:pic>
        <p:nvPicPr>
          <p:cNvPr id="11" name="Image 1" descr="preencoded.png">    </p:cNvPr>
          <p:cNvPicPr>
            <a:picLocks noChangeAspect="1"/>
          </p:cNvPicPr>
          <p:nvPr/>
        </p:nvPicPr>
        <p:blipFill>
          <a:blip r:embed="rId2"/>
          <a:stretch>
            <a:fillRect/>
          </a:stretch>
        </p:blipFill>
        <p:spPr>
          <a:xfrm>
            <a:off x="2657475" y="3443288"/>
            <a:ext cx="1571625" cy="576263"/>
          </a:xfrm>
          <a:prstGeom prst="rect">
            <a:avLst/>
          </a:prstGeom>
        </p:spPr>
      </p:pic>
      <p:sp>
        <p:nvSpPr>
          <p:cNvPr id="12" name="Shape 7"/>
          <p:cNvSpPr/>
          <p:nvPr/>
        </p:nvSpPr>
        <p:spPr>
          <a:xfrm>
            <a:off x="4572000" y="1471613"/>
            <a:ext cx="3714750" cy="1352550"/>
          </a:xfrm>
          <a:prstGeom prst="roundRect">
            <a:avLst>
              <a:gd name="adj" fmla="val 10817"/>
            </a:avLst>
          </a:prstGeom>
          <a:noFill/>
          <a:ln w="12700">
            <a:solidFill>
              <a:srgbClr val="424242"/>
            </a:solidFill>
            <a:prstDash val="solid"/>
          </a:ln>
        </p:spPr>
      </p:sp>
      <p:sp>
        <p:nvSpPr>
          <p:cNvPr id="13" name="Text 8"/>
          <p:cNvSpPr/>
          <p:nvPr/>
        </p:nvSpPr>
        <p:spPr>
          <a:xfrm>
            <a:off x="4800600" y="1819275"/>
            <a:ext cx="3741737"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Re Engine</a:t>
            </a:r>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 by</a:t>
            </a:r>
            <a:endParaRPr lang="en-US" sz="1350" dirty="0"/>
          </a:p>
        </p:txBody>
      </p:sp>
      <p:sp>
        <p:nvSpPr>
          <p:cNvPr id="14" name="Text 9"/>
          <p:cNvSpPr/>
          <p:nvPr/>
        </p:nvSpPr>
        <p:spPr>
          <a:xfrm>
            <a:off x="4800600" y="2100263"/>
            <a:ext cx="3741737"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Capcom</a:t>
            </a:r>
            <a:endParaRPr lang="en-US" sz="1800" dirty="0"/>
          </a:p>
        </p:txBody>
      </p:sp>
      <p:pic>
        <p:nvPicPr>
          <p:cNvPr id="15" name="Image 2" descr="preencoded.png">    </p:cNvPr>
          <p:cNvPicPr>
            <a:picLocks noChangeAspect="1"/>
          </p:cNvPicPr>
          <p:nvPr/>
        </p:nvPicPr>
        <p:blipFill>
          <a:blip r:embed="rId3"/>
          <a:stretch>
            <a:fillRect/>
          </a:stretch>
        </p:blipFill>
        <p:spPr>
          <a:xfrm>
            <a:off x="7096125" y="1638300"/>
            <a:ext cx="990600" cy="990600"/>
          </a:xfrm>
          <a:prstGeom prst="rect">
            <a:avLst/>
          </a:prstGeom>
        </p:spPr>
      </p:pic>
      <p:sp>
        <p:nvSpPr>
          <p:cNvPr id="16" name="Shape 10"/>
          <p:cNvSpPr/>
          <p:nvPr/>
        </p:nvSpPr>
        <p:spPr>
          <a:xfrm>
            <a:off x="4591050" y="3048000"/>
            <a:ext cx="3719512" cy="1352550"/>
          </a:xfrm>
          <a:prstGeom prst="roundRect">
            <a:avLst>
              <a:gd name="adj" fmla="val 10817"/>
            </a:avLst>
          </a:prstGeom>
          <a:noFill/>
          <a:ln w="12700">
            <a:solidFill>
              <a:srgbClr val="424242"/>
            </a:solidFill>
            <a:prstDash val="solid"/>
          </a:ln>
        </p:spPr>
      </p:sp>
      <p:sp>
        <p:nvSpPr>
          <p:cNvPr id="17" name="Text 11"/>
          <p:cNvSpPr/>
          <p:nvPr/>
        </p:nvSpPr>
        <p:spPr>
          <a:xfrm>
            <a:off x="4819650" y="3395663"/>
            <a:ext cx="3746500"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Frostbite </a:t>
            </a:r>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by </a:t>
            </a:r>
            <a:endParaRPr lang="en-US" sz="1350" dirty="0"/>
          </a:p>
        </p:txBody>
      </p:sp>
      <p:sp>
        <p:nvSpPr>
          <p:cNvPr id="18" name="Text 12"/>
          <p:cNvSpPr/>
          <p:nvPr/>
        </p:nvSpPr>
        <p:spPr>
          <a:xfrm>
            <a:off x="4819650" y="3681413"/>
            <a:ext cx="37465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EA</a:t>
            </a:r>
            <a:endParaRPr lang="en-US" sz="1800" dirty="0"/>
          </a:p>
        </p:txBody>
      </p:sp>
      <p:pic>
        <p:nvPicPr>
          <p:cNvPr id="19" name="Image 3" descr="preencoded.png">    </p:cNvPr>
          <p:cNvPicPr>
            <a:picLocks noChangeAspect="1"/>
          </p:cNvPicPr>
          <p:nvPr/>
        </p:nvPicPr>
        <p:blipFill>
          <a:blip r:embed="rId4"/>
          <a:stretch>
            <a:fillRect/>
          </a:stretch>
        </p:blipFill>
        <p:spPr>
          <a:xfrm>
            <a:off x="6543675" y="3048000"/>
            <a:ext cx="1766888" cy="11953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466850" y="1871663"/>
            <a:ext cx="6210300" cy="1643063"/>
          </a:xfrm>
          <a:prstGeom prst="rect">
            <a:avLst/>
          </a:prstGeom>
          <a:noFill/>
          <a:ln/>
        </p:spPr>
      </p:sp>
      <p:sp>
        <p:nvSpPr>
          <p:cNvPr id="4" name="Text 1"/>
          <p:cNvSpPr/>
          <p:nvPr/>
        </p:nvSpPr>
        <p:spPr>
          <a:xfrm>
            <a:off x="1466850" y="1871663"/>
            <a:ext cx="6667500" cy="1643063"/>
          </a:xfrm>
          <a:prstGeom prst="rect">
            <a:avLst/>
          </a:prstGeom>
          <a:noFill/>
          <a:ln/>
        </p:spPr>
        <p:txBody>
          <a:bodyPr wrap="square" rtlCol="0" anchor="ctr"/>
          <a:lstStyle/>
          <a:p>
            <a:pPr algn="ctr"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Why do they invest in creating their own game engines?</a:t>
            </a:r>
            <a:endParaRPr 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609600" y="790575"/>
            <a:ext cx="8001000" cy="276225"/>
          </a:xfrm>
          <a:prstGeom prst="rect">
            <a:avLst/>
          </a:prstGeom>
          <a:noFill/>
          <a:ln/>
        </p:spPr>
        <p:txBody>
          <a:bodyPr wrap="square" rtlCol="0" anchor="ctr"/>
          <a:lstStyle/>
          <a:p>
            <a:pPr algn="l" indent="0" marL="0">
              <a:lnSpc>
                <a:spcPts val="2160"/>
              </a:lnSpc>
              <a:buNone/>
            </a:pPr>
            <a:r>
              <a:rPr lang="en-US" sz="1800" spc="-36" kern="0" dirty="0">
                <a:solidFill>
                  <a:srgbClr val="FFFFFF">
                    <a:alpha val="99000"/>
                  </a:srgbClr>
                </a:solidFill>
                <a:latin typeface="Inter" pitchFamily="34" charset="0"/>
                <a:ea typeface="Inter" pitchFamily="34" charset="-122"/>
                <a:cs typeface="Inter" pitchFamily="34" charset="-120"/>
              </a:rPr>
              <a:t>Benefits of Custom Game Engines</a:t>
            </a:r>
            <a:endParaRPr lang="en-US" sz="1800" dirty="0"/>
          </a:p>
        </p:txBody>
      </p:sp>
      <p:sp>
        <p:nvSpPr>
          <p:cNvPr id="4" name="Shape 1"/>
          <p:cNvSpPr/>
          <p:nvPr/>
        </p:nvSpPr>
        <p:spPr>
          <a:xfrm>
            <a:off x="609600" y="1633538"/>
            <a:ext cx="3690937" cy="1123950"/>
          </a:xfrm>
          <a:prstGeom prst="roundRect">
            <a:avLst>
              <a:gd name="adj" fmla="val 13017"/>
            </a:avLst>
          </a:prstGeom>
          <a:noFill/>
          <a:ln w="12700">
            <a:solidFill>
              <a:srgbClr val="424242"/>
            </a:solidFill>
            <a:prstDash val="solid"/>
          </a:ln>
        </p:spPr>
      </p:sp>
      <p:sp>
        <p:nvSpPr>
          <p:cNvPr id="5" name="Text 2"/>
          <p:cNvSpPr/>
          <p:nvPr/>
        </p:nvSpPr>
        <p:spPr>
          <a:xfrm>
            <a:off x="838200" y="2028825"/>
            <a:ext cx="3719513"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Long Term Investment</a:t>
            </a:r>
            <a:endParaRPr lang="en-US" sz="1800" dirty="0"/>
          </a:p>
        </p:txBody>
      </p:sp>
      <p:sp>
        <p:nvSpPr>
          <p:cNvPr id="6" name="Shape 3"/>
          <p:cNvSpPr/>
          <p:nvPr/>
        </p:nvSpPr>
        <p:spPr>
          <a:xfrm>
            <a:off x="609600" y="2995613"/>
            <a:ext cx="3690937" cy="1123950"/>
          </a:xfrm>
          <a:prstGeom prst="roundRect">
            <a:avLst>
              <a:gd name="adj" fmla="val 13017"/>
            </a:avLst>
          </a:prstGeom>
          <a:noFill/>
          <a:ln w="12700">
            <a:solidFill>
              <a:srgbClr val="424242"/>
            </a:solidFill>
            <a:prstDash val="solid"/>
          </a:ln>
        </p:spPr>
      </p:sp>
      <p:sp>
        <p:nvSpPr>
          <p:cNvPr id="7" name="Text 4"/>
          <p:cNvSpPr/>
          <p:nvPr/>
        </p:nvSpPr>
        <p:spPr>
          <a:xfrm>
            <a:off x="838200" y="3390900"/>
            <a:ext cx="3500438"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Control performance </a:t>
            </a:r>
            <a:endParaRPr lang="en-US" sz="1800" dirty="0"/>
          </a:p>
        </p:txBody>
      </p:sp>
      <p:sp>
        <p:nvSpPr>
          <p:cNvPr id="8" name="Shape 5"/>
          <p:cNvSpPr/>
          <p:nvPr/>
        </p:nvSpPr>
        <p:spPr>
          <a:xfrm>
            <a:off x="4667250" y="1633538"/>
            <a:ext cx="3867150" cy="1123950"/>
          </a:xfrm>
          <a:prstGeom prst="roundRect">
            <a:avLst>
              <a:gd name="adj" fmla="val 13017"/>
            </a:avLst>
          </a:prstGeom>
          <a:noFill/>
          <a:ln w="12700">
            <a:solidFill>
              <a:srgbClr val="424242"/>
            </a:solidFill>
            <a:prstDash val="solid"/>
          </a:ln>
        </p:spPr>
      </p:sp>
      <p:sp>
        <p:nvSpPr>
          <p:cNvPr id="9" name="Text 6"/>
          <p:cNvSpPr/>
          <p:nvPr/>
        </p:nvSpPr>
        <p:spPr>
          <a:xfrm>
            <a:off x="4895850" y="2047875"/>
            <a:ext cx="3894137"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Standardize tools across teams</a:t>
            </a:r>
            <a:endParaRPr lang="en-US" sz="1800" dirty="0"/>
          </a:p>
        </p:txBody>
      </p:sp>
      <p:sp>
        <p:nvSpPr>
          <p:cNvPr id="10" name="Shape 7"/>
          <p:cNvSpPr/>
          <p:nvPr/>
        </p:nvSpPr>
        <p:spPr>
          <a:xfrm>
            <a:off x="4667250" y="2995613"/>
            <a:ext cx="3867150" cy="1123950"/>
          </a:xfrm>
          <a:prstGeom prst="roundRect">
            <a:avLst>
              <a:gd name="adj" fmla="val 13017"/>
            </a:avLst>
          </a:prstGeom>
          <a:noFill/>
          <a:ln w="12700">
            <a:solidFill>
              <a:srgbClr val="424242"/>
            </a:solidFill>
            <a:prstDash val="solid"/>
          </a:ln>
        </p:spPr>
      </p:sp>
      <p:sp>
        <p:nvSpPr>
          <p:cNvPr id="11" name="Text 8"/>
          <p:cNvSpPr/>
          <p:nvPr/>
        </p:nvSpPr>
        <p:spPr>
          <a:xfrm>
            <a:off x="4895850" y="3409950"/>
            <a:ext cx="3894137"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Build Custom workflows</a:t>
            </a:r>
            <a:endParaRPr lang="en-US" sz="1800" dirty="0"/>
          </a:p>
        </p:txBody>
      </p:sp>
      <p:pic>
        <p:nvPicPr>
          <p:cNvPr id="12" name="Image 0" descr="preencoded.png">    </p:cNvPr>
          <p:cNvPicPr>
            <a:picLocks noChangeAspect="1"/>
          </p:cNvPicPr>
          <p:nvPr/>
        </p:nvPicPr>
        <p:blipFill>
          <a:blip r:embed="rId1"/>
          <a:stretch>
            <a:fillRect/>
          </a:stretch>
        </p:blipFill>
        <p:spPr>
          <a:xfrm>
            <a:off x="7367587" y="642938"/>
            <a:ext cx="785813" cy="552450"/>
          </a:xfrm>
          <a:prstGeom prst="rect">
            <a:avLst/>
          </a:prstGeom>
        </p:spPr>
      </p:pic>
      <p:pic>
        <p:nvPicPr>
          <p:cNvPr id="13" name="Image 1" descr="preencoded.png">    </p:cNvPr>
          <p:cNvPicPr>
            <a:picLocks noChangeAspect="1"/>
          </p:cNvPicPr>
          <p:nvPr/>
        </p:nvPicPr>
        <p:blipFill>
          <a:blip r:embed="rId2"/>
          <a:stretch>
            <a:fillRect/>
          </a:stretch>
        </p:blipFill>
        <p:spPr>
          <a:xfrm>
            <a:off x="4562475" y="609600"/>
            <a:ext cx="619125" cy="619125"/>
          </a:xfrm>
          <a:prstGeom prst="rect">
            <a:avLst/>
          </a:prstGeom>
        </p:spPr>
      </p:pic>
      <p:pic>
        <p:nvPicPr>
          <p:cNvPr id="14" name="Image 2" descr="preencoded.png">    </p:cNvPr>
          <p:cNvPicPr>
            <a:picLocks noChangeAspect="1"/>
          </p:cNvPicPr>
          <p:nvPr/>
        </p:nvPicPr>
        <p:blipFill>
          <a:blip r:embed="rId3"/>
          <a:stretch>
            <a:fillRect/>
          </a:stretch>
        </p:blipFill>
        <p:spPr>
          <a:xfrm>
            <a:off x="6138863" y="704850"/>
            <a:ext cx="1209675" cy="442913"/>
          </a:xfrm>
          <a:prstGeom prst="rect">
            <a:avLst/>
          </a:prstGeom>
        </p:spPr>
      </p:pic>
      <p:pic>
        <p:nvPicPr>
          <p:cNvPr id="15" name="Image 3" descr="preencoded.png">    </p:cNvPr>
          <p:cNvPicPr>
            <a:picLocks noChangeAspect="1"/>
          </p:cNvPicPr>
          <p:nvPr/>
        </p:nvPicPr>
        <p:blipFill>
          <a:blip r:embed="rId4"/>
          <a:stretch>
            <a:fillRect/>
          </a:stretch>
        </p:blipFill>
        <p:spPr>
          <a:xfrm>
            <a:off x="5334000" y="614363"/>
            <a:ext cx="633413" cy="61436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466850" y="2145506"/>
            <a:ext cx="6210300" cy="1095375"/>
          </a:xfrm>
          <a:prstGeom prst="rect">
            <a:avLst/>
          </a:prstGeom>
          <a:noFill/>
          <a:ln/>
        </p:spPr>
      </p:sp>
      <p:sp>
        <p:nvSpPr>
          <p:cNvPr id="4" name="Text 1"/>
          <p:cNvSpPr/>
          <p:nvPr/>
        </p:nvSpPr>
        <p:spPr>
          <a:xfrm>
            <a:off x="1466850" y="2145506"/>
            <a:ext cx="6667500" cy="1095375"/>
          </a:xfrm>
          <a:prstGeom prst="rect">
            <a:avLst/>
          </a:prstGeom>
          <a:noFill/>
          <a:ln/>
        </p:spPr>
        <p:txBody>
          <a:bodyPr wrap="square" rtlCol="0" anchor="ctr"/>
          <a:lstStyle/>
          <a:p>
            <a:pPr algn="ctr"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What are the downsides of using a game engine?</a:t>
            </a:r>
            <a:endParaRPr lang="en-US" sz="3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466850" y="2145506"/>
            <a:ext cx="6210300" cy="1095375"/>
          </a:xfrm>
          <a:prstGeom prst="rect">
            <a:avLst/>
          </a:prstGeom>
          <a:noFill/>
          <a:ln/>
        </p:spPr>
      </p:sp>
      <p:sp>
        <p:nvSpPr>
          <p:cNvPr id="4" name="Text 1"/>
          <p:cNvSpPr/>
          <p:nvPr/>
        </p:nvSpPr>
        <p:spPr>
          <a:xfrm>
            <a:off x="1466850" y="2145506"/>
            <a:ext cx="6667500" cy="1095375"/>
          </a:xfrm>
          <a:prstGeom prst="rect">
            <a:avLst/>
          </a:prstGeom>
          <a:noFill/>
          <a:ln/>
        </p:spPr>
        <p:txBody>
          <a:bodyPr wrap="square" rtlCol="0" anchor="ctr"/>
          <a:lstStyle/>
          <a:p>
            <a:pPr algn="ctr"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Is an Engine enough or do we need other tools?</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609600" y="609600"/>
            <a:ext cx="80010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A typical game dev toolchain</a:t>
            </a:r>
            <a:endParaRPr lang="en-US" sz="1800" dirty="0"/>
          </a:p>
        </p:txBody>
      </p:sp>
      <p:sp>
        <p:nvSpPr>
          <p:cNvPr id="4" name="Shape 1"/>
          <p:cNvSpPr/>
          <p:nvPr/>
        </p:nvSpPr>
        <p:spPr>
          <a:xfrm>
            <a:off x="609600" y="1471613"/>
            <a:ext cx="3719512" cy="1352550"/>
          </a:xfrm>
          <a:prstGeom prst="roundRect">
            <a:avLst>
              <a:gd name="adj" fmla="val 10817"/>
            </a:avLst>
          </a:prstGeom>
          <a:noFill/>
          <a:ln w="12700">
            <a:solidFill>
              <a:srgbClr val="424242"/>
            </a:solidFill>
            <a:prstDash val="solid"/>
          </a:ln>
        </p:spPr>
      </p:sp>
      <p:sp>
        <p:nvSpPr>
          <p:cNvPr id="5" name="Text 2"/>
          <p:cNvSpPr/>
          <p:nvPr/>
        </p:nvSpPr>
        <p:spPr>
          <a:xfrm>
            <a:off x="838200" y="1662113"/>
            <a:ext cx="3746500" cy="228600"/>
          </a:xfrm>
          <a:prstGeom prst="rect">
            <a:avLst/>
          </a:prstGeom>
          <a:noFill/>
          <a:ln/>
        </p:spPr>
        <p:txBody>
          <a:bodyPr wrap="square" rtlCol="0" anchor="ctr"/>
          <a:lstStyle/>
          <a:p>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3D Modeling</a:t>
            </a:r>
            <a:endParaRPr lang="en-US" sz="1350" dirty="0"/>
          </a:p>
        </p:txBody>
      </p:sp>
      <p:sp>
        <p:nvSpPr>
          <p:cNvPr id="6" name="Text 3"/>
          <p:cNvSpPr/>
          <p:nvPr/>
        </p:nvSpPr>
        <p:spPr>
          <a:xfrm>
            <a:off x="838200" y="2133600"/>
            <a:ext cx="37465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Blender.. etc.</a:t>
            </a:r>
            <a:endParaRPr lang="en-US" sz="1800" dirty="0"/>
          </a:p>
        </p:txBody>
      </p:sp>
      <p:pic>
        <p:nvPicPr>
          <p:cNvPr id="7" name="Image 0" descr="preencoded.png">    </p:cNvPr>
          <p:cNvPicPr>
            <a:picLocks noChangeAspect="1"/>
          </p:cNvPicPr>
          <p:nvPr/>
        </p:nvPicPr>
        <p:blipFill>
          <a:blip r:embed="rId1"/>
          <a:stretch>
            <a:fillRect/>
          </a:stretch>
        </p:blipFill>
        <p:spPr>
          <a:xfrm>
            <a:off x="3038475" y="1700213"/>
            <a:ext cx="1090613" cy="895350"/>
          </a:xfrm>
          <a:prstGeom prst="rect">
            <a:avLst/>
          </a:prstGeom>
        </p:spPr>
      </p:pic>
      <p:sp>
        <p:nvSpPr>
          <p:cNvPr id="8" name="Shape 4"/>
          <p:cNvSpPr/>
          <p:nvPr/>
        </p:nvSpPr>
        <p:spPr>
          <a:xfrm>
            <a:off x="609600" y="3048000"/>
            <a:ext cx="3719512" cy="1352550"/>
          </a:xfrm>
          <a:prstGeom prst="roundRect">
            <a:avLst>
              <a:gd name="adj" fmla="val 10817"/>
            </a:avLst>
          </a:prstGeom>
          <a:noFill/>
          <a:ln w="12700">
            <a:solidFill>
              <a:srgbClr val="424242"/>
            </a:solidFill>
            <a:prstDash val="solid"/>
          </a:ln>
        </p:spPr>
      </p:sp>
      <p:sp>
        <p:nvSpPr>
          <p:cNvPr id="9" name="Text 5"/>
          <p:cNvSpPr/>
          <p:nvPr/>
        </p:nvSpPr>
        <p:spPr>
          <a:xfrm>
            <a:off x="838200" y="3238500"/>
            <a:ext cx="3746500" cy="228600"/>
          </a:xfrm>
          <a:prstGeom prst="rect">
            <a:avLst/>
          </a:prstGeom>
          <a:noFill/>
          <a:ln/>
        </p:spPr>
        <p:txBody>
          <a:bodyPr wrap="square" rtlCol="0" anchor="ctr"/>
          <a:lstStyle/>
          <a:p>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Scripting</a:t>
            </a:r>
            <a:endParaRPr lang="en-US" sz="1350" dirty="0"/>
          </a:p>
        </p:txBody>
      </p:sp>
      <p:sp>
        <p:nvSpPr>
          <p:cNvPr id="10" name="Text 6"/>
          <p:cNvSpPr/>
          <p:nvPr/>
        </p:nvSpPr>
        <p:spPr>
          <a:xfrm>
            <a:off x="838200" y="3714750"/>
            <a:ext cx="37465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VS Code.. etc.</a:t>
            </a:r>
            <a:endParaRPr lang="en-US" sz="1800" dirty="0"/>
          </a:p>
        </p:txBody>
      </p:sp>
      <p:pic>
        <p:nvPicPr>
          <p:cNvPr id="11" name="Image 1" descr="preencoded.png">    </p:cNvPr>
          <p:cNvPicPr>
            <a:picLocks noChangeAspect="1"/>
          </p:cNvPicPr>
          <p:nvPr/>
        </p:nvPicPr>
        <p:blipFill>
          <a:blip r:embed="rId2"/>
          <a:stretch>
            <a:fillRect/>
          </a:stretch>
        </p:blipFill>
        <p:spPr>
          <a:xfrm>
            <a:off x="3176588" y="3295650"/>
            <a:ext cx="838200" cy="838200"/>
          </a:xfrm>
          <a:prstGeom prst="rect">
            <a:avLst/>
          </a:prstGeom>
        </p:spPr>
      </p:pic>
      <p:sp>
        <p:nvSpPr>
          <p:cNvPr id="12" name="Shape 7"/>
          <p:cNvSpPr/>
          <p:nvPr/>
        </p:nvSpPr>
        <p:spPr>
          <a:xfrm>
            <a:off x="4572000" y="1471613"/>
            <a:ext cx="3714750" cy="1352550"/>
          </a:xfrm>
          <a:prstGeom prst="roundRect">
            <a:avLst>
              <a:gd name="adj" fmla="val 10817"/>
            </a:avLst>
          </a:prstGeom>
          <a:noFill/>
          <a:ln w="12700">
            <a:solidFill>
              <a:srgbClr val="424242"/>
            </a:solidFill>
            <a:prstDash val="solid"/>
          </a:ln>
        </p:spPr>
      </p:sp>
      <p:sp>
        <p:nvSpPr>
          <p:cNvPr id="13" name="Text 8"/>
          <p:cNvSpPr/>
          <p:nvPr/>
        </p:nvSpPr>
        <p:spPr>
          <a:xfrm>
            <a:off x="4800600" y="1662113"/>
            <a:ext cx="3741737" cy="228600"/>
          </a:xfrm>
          <a:prstGeom prst="rect">
            <a:avLst/>
          </a:prstGeom>
          <a:noFill/>
          <a:ln/>
        </p:spPr>
        <p:txBody>
          <a:bodyPr wrap="square" rtlCol="0" anchor="ctr"/>
          <a:lstStyle/>
          <a:p>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2D Art</a:t>
            </a:r>
            <a:endParaRPr lang="en-US" sz="1350" dirty="0"/>
          </a:p>
        </p:txBody>
      </p:sp>
      <p:sp>
        <p:nvSpPr>
          <p:cNvPr id="14" name="Text 9"/>
          <p:cNvSpPr/>
          <p:nvPr/>
        </p:nvSpPr>
        <p:spPr>
          <a:xfrm>
            <a:off x="4800600" y="2133600"/>
            <a:ext cx="3741737"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Photoshop.. etc.</a:t>
            </a:r>
            <a:endParaRPr lang="en-US" sz="1800" dirty="0"/>
          </a:p>
        </p:txBody>
      </p:sp>
      <p:sp>
        <p:nvSpPr>
          <p:cNvPr id="15" name="Shape 10"/>
          <p:cNvSpPr/>
          <p:nvPr/>
        </p:nvSpPr>
        <p:spPr>
          <a:xfrm>
            <a:off x="4591050" y="3048000"/>
            <a:ext cx="3719512" cy="1352550"/>
          </a:xfrm>
          <a:prstGeom prst="roundRect">
            <a:avLst>
              <a:gd name="adj" fmla="val 10817"/>
            </a:avLst>
          </a:prstGeom>
          <a:noFill/>
          <a:ln w="12700">
            <a:solidFill>
              <a:srgbClr val="424242"/>
            </a:solidFill>
            <a:prstDash val="solid"/>
          </a:ln>
        </p:spPr>
      </p:sp>
      <p:sp>
        <p:nvSpPr>
          <p:cNvPr id="16" name="Text 11"/>
          <p:cNvSpPr/>
          <p:nvPr/>
        </p:nvSpPr>
        <p:spPr>
          <a:xfrm>
            <a:off x="4819650" y="3238500"/>
            <a:ext cx="3746500" cy="228600"/>
          </a:xfrm>
          <a:prstGeom prst="rect">
            <a:avLst/>
          </a:prstGeom>
          <a:noFill/>
          <a:ln/>
        </p:spPr>
        <p:txBody>
          <a:bodyPr wrap="square" rtlCol="0" anchor="ctr"/>
          <a:lstStyle/>
          <a:p>
            <a:pPr algn="l" indent="0" marL="0">
              <a:lnSpc>
                <a:spcPts val="1782"/>
              </a:lnSpc>
              <a:buNone/>
            </a:pPr>
            <a:r>
              <a:rPr lang="en-US" sz="1350" spc="-27" kern="0" dirty="0">
                <a:solidFill>
                  <a:srgbClr val="FFFFFF">
                    <a:alpha val="99000"/>
                  </a:srgbClr>
                </a:solidFill>
                <a:latin typeface="Inter" pitchFamily="34" charset="0"/>
                <a:ea typeface="Inter" pitchFamily="34" charset="-122"/>
                <a:cs typeface="Inter" pitchFamily="34" charset="-120"/>
              </a:rPr>
              <a:t>Audio</a:t>
            </a:r>
            <a:endParaRPr lang="en-US" sz="1350" dirty="0"/>
          </a:p>
        </p:txBody>
      </p:sp>
      <p:sp>
        <p:nvSpPr>
          <p:cNvPr id="17" name="Text 12"/>
          <p:cNvSpPr/>
          <p:nvPr/>
        </p:nvSpPr>
        <p:spPr>
          <a:xfrm>
            <a:off x="4819650" y="3714750"/>
            <a:ext cx="37465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Audacity.. etc.</a:t>
            </a:r>
            <a:endParaRPr lang="en-US" sz="1800" dirty="0"/>
          </a:p>
        </p:txBody>
      </p:sp>
      <p:pic>
        <p:nvPicPr>
          <p:cNvPr id="18" name="Image 2" descr="preencoded.png">    </p:cNvPr>
          <p:cNvPicPr>
            <a:picLocks noChangeAspect="1"/>
          </p:cNvPicPr>
          <p:nvPr/>
        </p:nvPicPr>
        <p:blipFill>
          <a:blip r:embed="rId3"/>
          <a:stretch>
            <a:fillRect/>
          </a:stretch>
        </p:blipFill>
        <p:spPr>
          <a:xfrm>
            <a:off x="7038975" y="3238500"/>
            <a:ext cx="942975" cy="942975"/>
          </a:xfrm>
          <a:prstGeom prst="rect">
            <a:avLst/>
          </a:prstGeom>
        </p:spPr>
      </p:pic>
      <p:pic>
        <p:nvPicPr>
          <p:cNvPr id="19" name="Image 3" descr="preencoded.png">    </p:cNvPr>
          <p:cNvPicPr>
            <a:picLocks noChangeAspect="1"/>
          </p:cNvPicPr>
          <p:nvPr/>
        </p:nvPicPr>
        <p:blipFill>
          <a:blip r:embed="rId4"/>
          <a:stretch>
            <a:fillRect/>
          </a:stretch>
        </p:blipFill>
        <p:spPr>
          <a:xfrm>
            <a:off x="7158038" y="1838325"/>
            <a:ext cx="752475" cy="7334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3271838" y="1943100"/>
            <a:ext cx="3057525" cy="628230"/>
          </a:xfrm>
          <a:prstGeom prst="rect">
            <a:avLst/>
          </a:prstGeom>
          <a:noFill/>
          <a:ln/>
        </p:spPr>
        <p:txBody>
          <a:bodyPr wrap="square" rtlCol="0" anchor="ctr"/>
          <a:lstStyle/>
          <a:p>
            <a:pPr algn="ctr" indent="0" marL="0">
              <a:lnSpc>
                <a:spcPts val="4955"/>
              </a:lnSpc>
              <a:buNone/>
            </a:pPr>
            <a:r>
              <a:rPr lang="en-US" sz="4129" b="1" spc="-83" kern="0" dirty="0">
                <a:solidFill>
                  <a:srgbClr val="FFFFFF">
                    <a:alpha val="99000"/>
                  </a:srgbClr>
                </a:solidFill>
                <a:latin typeface="Inter" pitchFamily="34" charset="0"/>
                <a:ea typeface="Inter" pitchFamily="34" charset="-122"/>
                <a:cs typeface="Inter" pitchFamily="34" charset="-120"/>
              </a:rPr>
              <a:t>Thank you</a:t>
            </a:r>
            <a:endParaRPr lang="en-US" sz="4129" dirty="0"/>
          </a:p>
        </p:txBody>
      </p:sp>
      <p:sp>
        <p:nvSpPr>
          <p:cNvPr id="3" name="Text 1"/>
          <p:cNvSpPr/>
          <p:nvPr/>
        </p:nvSpPr>
        <p:spPr>
          <a:xfrm>
            <a:off x="6910388" y="669131"/>
            <a:ext cx="2309813" cy="223838"/>
          </a:xfrm>
          <a:prstGeom prst="rect">
            <a:avLst/>
          </a:prstGeom>
          <a:noFill/>
          <a:ln/>
        </p:spPr>
        <p:txBody>
          <a:bodyPr wrap="square" rtlCol="0" anchor="ctr"/>
          <a:lstStyle/>
          <a:p>
            <a:pPr algn="l" indent="0" marL="0">
              <a:lnSpc>
                <a:spcPts val="1762"/>
              </a:lnSpc>
              <a:buNone/>
            </a:pPr>
            <a:r>
              <a:rPr lang="en-US" sz="1468" b="1" spc="-29" kern="0" dirty="0">
                <a:solidFill>
                  <a:srgbClr val="FFFFFF">
                    <a:alpha val="99000"/>
                  </a:srgbClr>
                </a:solidFill>
                <a:latin typeface="Inter" pitchFamily="34" charset="0"/>
                <a:ea typeface="Inter" pitchFamily="34" charset="-122"/>
                <a:cs typeface="Inter" pitchFamily="34" charset="-120"/>
              </a:rPr>
              <a:t>discord.gg/jSyF3RJS</a:t>
            </a:r>
            <a:endParaRPr lang="en-US" sz="1468" dirty="0"/>
          </a:p>
        </p:txBody>
      </p:sp>
      <p:pic>
        <p:nvPicPr>
          <p:cNvPr id="4" name="Image 0" descr="preencoded.png">    </p:cNvPr>
          <p:cNvPicPr>
            <a:picLocks noChangeAspect="1"/>
          </p:cNvPicPr>
          <p:nvPr/>
        </p:nvPicPr>
        <p:blipFill>
          <a:blip r:embed="rId1"/>
          <a:stretch>
            <a:fillRect/>
          </a:stretch>
        </p:blipFill>
        <p:spPr>
          <a:xfrm>
            <a:off x="6977063" y="445294"/>
            <a:ext cx="223279" cy="219075"/>
          </a:xfrm>
          <a:prstGeom prst="rect">
            <a:avLst/>
          </a:prstGeom>
        </p:spPr>
      </p:pic>
      <p:sp>
        <p:nvSpPr>
          <p:cNvPr id="5" name="Text 2"/>
          <p:cNvSpPr/>
          <p:nvPr/>
        </p:nvSpPr>
        <p:spPr>
          <a:xfrm>
            <a:off x="7267296" y="428625"/>
            <a:ext cx="1933575" cy="233362"/>
          </a:xfrm>
          <a:prstGeom prst="rect">
            <a:avLst/>
          </a:prstGeom>
          <a:noFill/>
          <a:ln/>
        </p:spPr>
        <p:txBody>
          <a:bodyPr wrap="square" rtlCol="0" anchor="ctr"/>
          <a:lstStyle/>
          <a:p>
            <a:pPr algn="l" indent="0" marL="0">
              <a:lnSpc>
                <a:spcPts val="1827"/>
              </a:lnSpc>
              <a:buNone/>
            </a:pPr>
            <a:r>
              <a:rPr lang="en-US" sz="1384" spc="-28" kern="0" dirty="0">
                <a:solidFill>
                  <a:srgbClr val="FFFFFF">
                    <a:alpha val="99000"/>
                  </a:srgbClr>
                </a:solidFill>
                <a:latin typeface="Inter" pitchFamily="34" charset="0"/>
                <a:ea typeface="Inter" pitchFamily="34" charset="-122"/>
                <a:cs typeface="Inter" pitchFamily="34" charset="-120"/>
              </a:rPr>
              <a:t>join the discussion</a:t>
            </a:r>
            <a:endParaRPr lang="en-US" sz="1384" dirty="0"/>
          </a:p>
        </p:txBody>
      </p:sp>
      <p:sp>
        <p:nvSpPr>
          <p:cNvPr id="6" name="Text 3"/>
          <p:cNvSpPr/>
          <p:nvPr/>
        </p:nvSpPr>
        <p:spPr>
          <a:xfrm>
            <a:off x="457200" y="428625"/>
            <a:ext cx="2733675" cy="476250"/>
          </a:xfrm>
          <a:prstGeom prst="rect">
            <a:avLst/>
          </a:prstGeom>
          <a:noFill/>
          <a:ln/>
        </p:spPr>
        <p:txBody>
          <a:bodyPr wrap="square" rtlCol="0" anchor="ctr"/>
          <a:lstStyle/>
          <a:p>
            <a:pPr algn="l" indent="0" marL="0">
              <a:lnSpc>
                <a:spcPts val="1890"/>
              </a:lnSpc>
              <a:buNone/>
            </a:pPr>
            <a:r>
              <a:rPr lang="en-US" sz="1350" spc="-13" kern="0" dirty="0">
                <a:solidFill>
                  <a:srgbClr val="FFFFFF">
                    <a:alpha val="99000"/>
                  </a:srgbClr>
                </a:solidFill>
                <a:latin typeface="Inter" pitchFamily="34" charset="0"/>
                <a:ea typeface="Inter" pitchFamily="34" charset="-122"/>
                <a:cs typeface="Inter" pitchFamily="34" charset="-120"/>
              </a:rPr>
              <a:t>Game Programming, KFUPM</a:t>
            </a:r>
            <a:endParaRPr lang="en-US" sz="1350" dirty="0"/>
          </a:p>
          <a:p>
            <a:pPr algn="l" indent="0" marL="0">
              <a:lnSpc>
                <a:spcPts val="1890"/>
              </a:lnSpc>
              <a:buNone/>
            </a:pPr>
            <a:r>
              <a:rPr lang="en-US" sz="1350" b="1" spc="-13" kern="0" dirty="0">
                <a:solidFill>
                  <a:srgbClr val="FFFFFF">
                    <a:alpha val="99000"/>
                  </a:srgbClr>
                </a:solidFill>
                <a:latin typeface="Inter" pitchFamily="34" charset="0"/>
                <a:ea typeface="Inter" pitchFamily="34" charset="-122"/>
                <a:cs typeface="Inter" pitchFamily="34" charset="-120"/>
              </a:rPr>
              <a:t>By Dr. Omar Hammad</a:t>
            </a:r>
            <a:endParaRPr lang="en-US" sz="1350" dirty="0"/>
          </a:p>
        </p:txBody>
      </p:sp>
      <p:pic>
        <p:nvPicPr>
          <p:cNvPr id="7" name="Image 1" descr="preencoded.png">    </p:cNvPr>
          <p:cNvPicPr>
            <a:picLocks noChangeAspect="1"/>
          </p:cNvPicPr>
          <p:nvPr/>
        </p:nvPicPr>
        <p:blipFill>
          <a:blip r:embed="rId2"/>
          <a:stretch>
            <a:fillRect/>
          </a:stretch>
        </p:blipFill>
        <p:spPr>
          <a:xfrm>
            <a:off x="2419350" y="2676525"/>
            <a:ext cx="4305300" cy="24669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2026-01-28T08:33:14Z</dcterms:created>
  <dcterms:modified xsi:type="dcterms:W3CDTF">2026-01-28T08:33:14Z</dcterms:modified>
</cp:coreProperties>
</file>